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project: an interactive dashboard that couples a live in-browser surrogate engine with the full Python MOGA (NSGA-II) to select flood-adaptation strategies for a historic two-story URM building with basement, in a FEMA AE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variables: intervention strategy (0/1/2), protection height PH in [0, 3.5] m, visual impact factor VIF in [0, 1]. The composite score is the minimum of the three objectives — a conservative "weakest link" selection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card in the dashboard carries a source badge: JS·LIVE results react to the sliders; MOGA·PYTHON results come from the full optimization run. During the demo, the RUN MOGA ENGINE button calls the local server, which executes the real NSGA-II with the current slider profile and streams fresh Pareto results back into the 3D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design condition (flood depth 2.5 m, shear 40 kN) the winner is S1 — removable barrier, PH 0.75 m, composite 44. The "No measures" row anchors the value of intervening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sensitivity chart is the argument for S1 at moderate depths (blue curve dominates until ~2.8 m) and previews the extreme-scenario behavior: all curves collapse as depth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slide to pause on: committee members can trace any single candidate across the three axes and see why the min-composite rule rejects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charts rotate and zoom live. The RUN MOGA ENGINE button (left card) re-runs the real Python NSGA-II with the current building profile — 5 seeds × 60 generations takes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near-absence of red points on the front is a quantitative version of the preservation argument: the optimizer never needs the sealant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moment: drag flood depth to 4.0 m, shear capacity to 20 kN and overtopping to 0.70. The comparison table shows S0 and S1 collapsing to Structural 0.0 while S2 stays at 96.9 — the winner flips to S2 in real time. This demonstrates the optimizer is not just curve-fitting: it respects the structural feasibility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live demo: change a slider, click RUN MOGA ENGINE, and show the Python engine updating the 3D Pareto front in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22960" y="1051560"/>
            <a:ext cx="7315200" cy="365760"/>
          </a:xfrm>
          <a:prstGeom prst="rect">
            <a:avLst/>
          </a:prstGeom>
          <a:noFill/>
          <a:ln/>
        </p:spPr>
        <p:txBody>
          <a:bodyPr wrap="square" lIns="0" tIns="0" rIns="0" bIns="0" rtlCol="0" anchor="ctr"/>
          <a:lstStyle/>
          <a:p>
            <a:pPr indent="0" marL="0">
              <a:buNone/>
            </a:pPr>
            <a:r>
              <a:rPr lang="en-US" sz="1400" b="1" spc="300" kern="0" dirty="0">
                <a:solidFill>
                  <a:srgbClr val="38BDF8"/>
                </a:solidFill>
                <a:latin typeface="Calibri" pitchFamily="34" charset="0"/>
                <a:ea typeface="Calibri" pitchFamily="34" charset="-122"/>
                <a:cs typeface="Calibri" pitchFamily="34" charset="-120"/>
              </a:rPr>
              <a:t>AE 540 · FINAL PROJECT</a:t>
            </a:r>
            <a:endParaRPr lang="en-US" sz="1400" dirty="0"/>
          </a:p>
        </p:txBody>
      </p:sp>
      <p:sp>
        <p:nvSpPr>
          <p:cNvPr id="3" name="Text 1"/>
          <p:cNvSpPr/>
          <p:nvPr/>
        </p:nvSpPr>
        <p:spPr>
          <a:xfrm>
            <a:off x="822960" y="1463040"/>
            <a:ext cx="9692640" cy="201168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Historic URM Building</a:t>
            </a:r>
            <a:endParaRPr lang="en-US" sz="4400" dirty="0"/>
          </a:p>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Flood-Resilience Dashboard</a:t>
            </a:r>
            <a:endParaRPr lang="en-US" sz="4400" dirty="0"/>
          </a:p>
        </p:txBody>
      </p:sp>
      <p:sp>
        <p:nvSpPr>
          <p:cNvPr id="4" name="Text 2"/>
          <p:cNvSpPr/>
          <p:nvPr/>
        </p:nvSpPr>
        <p:spPr>
          <a:xfrm>
            <a:off x="822960" y="3520440"/>
            <a:ext cx="9326880" cy="8229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Interactive decision-support powered by a multi-objective genetic algorithm (NSGA-II)</a:t>
            </a:r>
            <a:endParaRPr lang="en-US" sz="1600" dirty="0"/>
          </a:p>
          <a:p>
            <a:pPr indent="0" marL="0">
              <a:buNone/>
            </a:pPr>
            <a:r>
              <a:rPr lang="en-US" sz="1600" dirty="0">
                <a:solidFill>
                  <a:srgbClr val="CBD5E1"/>
                </a:solidFill>
                <a:latin typeface="Calibri" pitchFamily="34" charset="0"/>
                <a:ea typeface="Calibri" pitchFamily="34" charset="-122"/>
                <a:cs typeface="Calibri" pitchFamily="34" charset="-120"/>
              </a:rPr>
              <a:t>balancing structural safety, heritage preservation, and functional utility</a:t>
            </a:r>
            <a:endParaRPr lang="en-US" sz="1600" dirty="0"/>
          </a:p>
        </p:txBody>
      </p:sp>
      <p:sp>
        <p:nvSpPr>
          <p:cNvPr id="5" name="Shape 3"/>
          <p:cNvSpPr/>
          <p:nvPr/>
        </p:nvSpPr>
        <p:spPr>
          <a:xfrm>
            <a:off x="822960" y="4572000"/>
            <a:ext cx="2331720" cy="384048"/>
          </a:xfrm>
          <a:prstGeom prst="roundRect">
            <a:avLst>
              <a:gd name="adj" fmla="val 50000"/>
            </a:avLst>
          </a:prstGeom>
          <a:solidFill>
            <a:srgbClr val="0B1120"/>
          </a:solidFill>
          <a:ln w="15875">
            <a:solidFill>
              <a:srgbClr val="F87171"/>
            </a:solidFill>
            <a:prstDash val="solid"/>
          </a:ln>
        </p:spPr>
      </p:sp>
      <p:sp>
        <p:nvSpPr>
          <p:cNvPr id="6" name="Shape 4"/>
          <p:cNvSpPr/>
          <p:nvPr/>
        </p:nvSpPr>
        <p:spPr>
          <a:xfrm>
            <a:off x="969264" y="4690872"/>
            <a:ext cx="146304" cy="146304"/>
          </a:xfrm>
          <a:prstGeom prst="ellipse">
            <a:avLst/>
          </a:prstGeom>
          <a:solidFill>
            <a:srgbClr val="F87171"/>
          </a:solidFill>
          <a:ln/>
        </p:spPr>
      </p:sp>
      <p:sp>
        <p:nvSpPr>
          <p:cNvPr id="7" name="Text 5"/>
          <p:cNvSpPr/>
          <p:nvPr/>
        </p:nvSpPr>
        <p:spPr>
          <a:xfrm>
            <a:off x="1152144" y="4572000"/>
            <a:ext cx="2011680" cy="384048"/>
          </a:xfrm>
          <a:prstGeom prst="rect">
            <a:avLst/>
          </a:prstGeom>
          <a:noFill/>
          <a:ln/>
        </p:spPr>
        <p:txBody>
          <a:bodyPr wrap="square" lIns="0" tIns="0" rIns="0" bIns="0" rtlCol="0" anchor="ctr"/>
          <a:lstStyle/>
          <a:p>
            <a:pPr indent="0" marL="0">
              <a:buNone/>
            </a:pPr>
            <a:r>
              <a:rPr lang="en-US" sz="1150" b="1" dirty="0">
                <a:solidFill>
                  <a:srgbClr val="E2E8F0"/>
                </a:solidFill>
                <a:latin typeface="Calibri" pitchFamily="34" charset="0"/>
                <a:ea typeface="Calibri" pitchFamily="34" charset="-122"/>
                <a:cs typeface="Calibri" pitchFamily="34" charset="-120"/>
              </a:rPr>
              <a:t>S0 · Sealant / Coating</a:t>
            </a:r>
            <a:endParaRPr lang="en-US" sz="1150" dirty="0"/>
          </a:p>
        </p:txBody>
      </p:sp>
      <p:sp>
        <p:nvSpPr>
          <p:cNvPr id="8" name="Shape 6"/>
          <p:cNvSpPr/>
          <p:nvPr/>
        </p:nvSpPr>
        <p:spPr>
          <a:xfrm>
            <a:off x="3337560" y="4572000"/>
            <a:ext cx="2331720" cy="384048"/>
          </a:xfrm>
          <a:prstGeom prst="roundRect">
            <a:avLst>
              <a:gd name="adj" fmla="val 50000"/>
            </a:avLst>
          </a:prstGeom>
          <a:solidFill>
            <a:srgbClr val="0B1120"/>
          </a:solidFill>
          <a:ln w="15875">
            <a:solidFill>
              <a:srgbClr val="38BDF8"/>
            </a:solidFill>
            <a:prstDash val="solid"/>
          </a:ln>
        </p:spPr>
      </p:sp>
      <p:sp>
        <p:nvSpPr>
          <p:cNvPr id="9" name="Shape 7"/>
          <p:cNvSpPr/>
          <p:nvPr/>
        </p:nvSpPr>
        <p:spPr>
          <a:xfrm>
            <a:off x="3483864" y="4690872"/>
            <a:ext cx="146304" cy="146304"/>
          </a:xfrm>
          <a:prstGeom prst="ellipse">
            <a:avLst/>
          </a:prstGeom>
          <a:solidFill>
            <a:srgbClr val="38BDF8"/>
          </a:solidFill>
          <a:ln/>
        </p:spPr>
      </p:sp>
      <p:sp>
        <p:nvSpPr>
          <p:cNvPr id="10" name="Text 8"/>
          <p:cNvSpPr/>
          <p:nvPr/>
        </p:nvSpPr>
        <p:spPr>
          <a:xfrm>
            <a:off x="3666744" y="4572000"/>
            <a:ext cx="2011680" cy="384048"/>
          </a:xfrm>
          <a:prstGeom prst="rect">
            <a:avLst/>
          </a:prstGeom>
          <a:noFill/>
          <a:ln/>
        </p:spPr>
        <p:txBody>
          <a:bodyPr wrap="square" lIns="0" tIns="0" rIns="0" bIns="0" rtlCol="0" anchor="ctr"/>
          <a:lstStyle/>
          <a:p>
            <a:pPr indent="0" marL="0">
              <a:buNone/>
            </a:pPr>
            <a:r>
              <a:rPr lang="en-US" sz="1150" b="1" dirty="0">
                <a:solidFill>
                  <a:srgbClr val="E2E8F0"/>
                </a:solidFill>
                <a:latin typeface="Calibri" pitchFamily="34" charset="0"/>
                <a:ea typeface="Calibri" pitchFamily="34" charset="-122"/>
                <a:cs typeface="Calibri" pitchFamily="34" charset="-120"/>
              </a:rPr>
              <a:t>S1 · Removable Barrier</a:t>
            </a:r>
            <a:endParaRPr lang="en-US" sz="1150" dirty="0"/>
          </a:p>
        </p:txBody>
      </p:sp>
      <p:sp>
        <p:nvSpPr>
          <p:cNvPr id="11" name="Shape 9"/>
          <p:cNvSpPr/>
          <p:nvPr/>
        </p:nvSpPr>
        <p:spPr>
          <a:xfrm>
            <a:off x="5852160" y="4572000"/>
            <a:ext cx="2331720" cy="384048"/>
          </a:xfrm>
          <a:prstGeom prst="roundRect">
            <a:avLst>
              <a:gd name="adj" fmla="val 50000"/>
            </a:avLst>
          </a:prstGeom>
          <a:solidFill>
            <a:srgbClr val="0B1120"/>
          </a:solidFill>
          <a:ln w="15875">
            <a:solidFill>
              <a:srgbClr val="34D399"/>
            </a:solidFill>
            <a:prstDash val="solid"/>
          </a:ln>
        </p:spPr>
      </p:sp>
      <p:sp>
        <p:nvSpPr>
          <p:cNvPr id="12" name="Shape 10"/>
          <p:cNvSpPr/>
          <p:nvPr/>
        </p:nvSpPr>
        <p:spPr>
          <a:xfrm>
            <a:off x="5998464" y="4690872"/>
            <a:ext cx="146304" cy="146304"/>
          </a:xfrm>
          <a:prstGeom prst="ellipse">
            <a:avLst/>
          </a:prstGeom>
          <a:solidFill>
            <a:srgbClr val="34D399"/>
          </a:solidFill>
          <a:ln/>
        </p:spPr>
      </p:sp>
      <p:sp>
        <p:nvSpPr>
          <p:cNvPr id="13" name="Text 11"/>
          <p:cNvSpPr/>
          <p:nvPr/>
        </p:nvSpPr>
        <p:spPr>
          <a:xfrm>
            <a:off x="6181344" y="4572000"/>
            <a:ext cx="2011680" cy="384048"/>
          </a:xfrm>
          <a:prstGeom prst="rect">
            <a:avLst/>
          </a:prstGeom>
          <a:noFill/>
          <a:ln/>
        </p:spPr>
        <p:txBody>
          <a:bodyPr wrap="square" lIns="0" tIns="0" rIns="0" bIns="0" rtlCol="0" anchor="ctr"/>
          <a:lstStyle/>
          <a:p>
            <a:pPr indent="0" marL="0">
              <a:buNone/>
            </a:pPr>
            <a:r>
              <a:rPr lang="en-US" sz="1150" b="1" dirty="0">
                <a:solidFill>
                  <a:srgbClr val="E2E8F0"/>
                </a:solidFill>
                <a:latin typeface="Calibri" pitchFamily="34" charset="0"/>
                <a:ea typeface="Calibri" pitchFamily="34" charset="-122"/>
                <a:cs typeface="Calibri" pitchFamily="34" charset="-120"/>
              </a:rPr>
              <a:t>S2 · Hydrostatic Vents</a:t>
            </a:r>
            <a:endParaRPr lang="en-US" sz="1150" dirty="0"/>
          </a:p>
        </p:txBody>
      </p:sp>
      <p:sp>
        <p:nvSpPr>
          <p:cNvPr id="14" name="Text 12"/>
          <p:cNvSpPr/>
          <p:nvPr/>
        </p:nvSpPr>
        <p:spPr>
          <a:xfrm>
            <a:off x="822960" y="5897880"/>
            <a:ext cx="73152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Ana Ferreira  ·  Penn State University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77824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The optimization problem</a:t>
            </a:r>
            <a:endParaRPr lang="en-US" sz="3000" dirty="0"/>
          </a:p>
        </p:txBody>
      </p:sp>
      <p:sp>
        <p:nvSpPr>
          <p:cNvPr id="3" name="Text 1"/>
          <p:cNvSpPr/>
          <p:nvPr/>
        </p:nvSpPr>
        <p:spPr>
          <a:xfrm>
            <a:off x="502920" y="960120"/>
            <a:ext cx="11155680" cy="594360"/>
          </a:xfrm>
          <a:prstGeom prst="rect">
            <a:avLst/>
          </a:prstGeom>
          <a:noFill/>
          <a:ln/>
        </p:spPr>
        <p:txBody>
          <a:bodyPr wrap="square" lIns="0" tIns="0" rIns="0" bIns="0" rtlCol="0" anchor="ctr"/>
          <a:lstStyle/>
          <a:p>
            <a:pPr indent="0" marL="0">
              <a:buNone/>
            </a:pPr>
            <a:r>
              <a:rPr lang="en-US" sz="1450" dirty="0">
                <a:solidFill>
                  <a:srgbClr val="475569"/>
                </a:solidFill>
                <a:latin typeface="Calibri" pitchFamily="34" charset="0"/>
                <a:ea typeface="Calibri" pitchFamily="34" charset="-122"/>
                <a:cs typeface="Calibri" pitchFamily="34" charset="-120"/>
              </a:rPr>
              <a:t>Choose the flood-adaptation strategy and its design genes that best balance three competing objectives for a two-story unreinforced-masonry (URM) building with basement.</a:t>
            </a:r>
            <a:endParaRPr lang="en-US" sz="1450" dirty="0"/>
          </a:p>
        </p:txBody>
      </p:sp>
      <p:sp>
        <p:nvSpPr>
          <p:cNvPr id="4" name="Text 2"/>
          <p:cNvSpPr/>
          <p:nvPr/>
        </p:nvSpPr>
        <p:spPr>
          <a:xfrm>
            <a:off x="502920" y="164592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Strategies (gene 1)</a:t>
            </a:r>
            <a:endParaRPr lang="en-US" sz="1500" dirty="0"/>
          </a:p>
        </p:txBody>
      </p:sp>
      <p:sp>
        <p:nvSpPr>
          <p:cNvPr id="5" name="Shape 3"/>
          <p:cNvSpPr/>
          <p:nvPr/>
        </p:nvSpPr>
        <p:spPr>
          <a:xfrm>
            <a:off x="502920" y="2011680"/>
            <a:ext cx="5440680" cy="1024128"/>
          </a:xfrm>
          <a:prstGeom prst="roundRect">
            <a:avLst>
              <a:gd name="adj" fmla="val 8929"/>
            </a:avLst>
          </a:prstGeom>
          <a:solidFill>
            <a:srgbClr val="F1F5F9"/>
          </a:solidFill>
          <a:ln w="9525">
            <a:solidFill>
              <a:srgbClr val="E2E8F0"/>
            </a:solidFill>
            <a:prstDash val="solid"/>
          </a:ln>
        </p:spPr>
      </p:sp>
      <p:sp>
        <p:nvSpPr>
          <p:cNvPr id="6" name="Shape 4"/>
          <p:cNvSpPr/>
          <p:nvPr/>
        </p:nvSpPr>
        <p:spPr>
          <a:xfrm>
            <a:off x="685800" y="2185416"/>
            <a:ext cx="182880" cy="182880"/>
          </a:xfrm>
          <a:prstGeom prst="ellipse">
            <a:avLst/>
          </a:prstGeom>
          <a:solidFill>
            <a:srgbClr val="DC2626"/>
          </a:solidFill>
          <a:ln/>
        </p:spPr>
      </p:sp>
      <p:sp>
        <p:nvSpPr>
          <p:cNvPr id="7" name="Text 5"/>
          <p:cNvSpPr/>
          <p:nvPr/>
        </p:nvSpPr>
        <p:spPr>
          <a:xfrm>
            <a:off x="960120" y="2084832"/>
            <a:ext cx="4846320" cy="32918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S0 · Dry — Sealant / Coating</a:t>
            </a:r>
            <a:endParaRPr lang="en-US" sz="1350" dirty="0"/>
          </a:p>
        </p:txBody>
      </p:sp>
      <p:sp>
        <p:nvSpPr>
          <p:cNvPr id="8" name="Text 6"/>
          <p:cNvSpPr/>
          <p:nvPr/>
        </p:nvSpPr>
        <p:spPr>
          <a:xfrm>
            <a:off x="960120" y="2414016"/>
            <a:ext cx="4800600" cy="566928"/>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Blocks water at the wall face; traps moisture and salts in historic masonry (low reversibility).</a:t>
            </a:r>
            <a:endParaRPr lang="en-US" sz="1150" dirty="0"/>
          </a:p>
        </p:txBody>
      </p:sp>
      <p:sp>
        <p:nvSpPr>
          <p:cNvPr id="9" name="Shape 7"/>
          <p:cNvSpPr/>
          <p:nvPr/>
        </p:nvSpPr>
        <p:spPr>
          <a:xfrm>
            <a:off x="502920" y="3182112"/>
            <a:ext cx="5440680" cy="1024128"/>
          </a:xfrm>
          <a:prstGeom prst="roundRect">
            <a:avLst>
              <a:gd name="adj" fmla="val 8929"/>
            </a:avLst>
          </a:prstGeom>
          <a:solidFill>
            <a:srgbClr val="F1F5F9"/>
          </a:solidFill>
          <a:ln w="9525">
            <a:solidFill>
              <a:srgbClr val="E2E8F0"/>
            </a:solidFill>
            <a:prstDash val="solid"/>
          </a:ln>
        </p:spPr>
      </p:sp>
      <p:sp>
        <p:nvSpPr>
          <p:cNvPr id="10" name="Shape 8"/>
          <p:cNvSpPr/>
          <p:nvPr/>
        </p:nvSpPr>
        <p:spPr>
          <a:xfrm>
            <a:off x="685800" y="3355848"/>
            <a:ext cx="182880" cy="182880"/>
          </a:xfrm>
          <a:prstGeom prst="ellipse">
            <a:avLst/>
          </a:prstGeom>
          <a:solidFill>
            <a:srgbClr val="0284C7"/>
          </a:solidFill>
          <a:ln/>
        </p:spPr>
      </p:sp>
      <p:sp>
        <p:nvSpPr>
          <p:cNvPr id="11" name="Text 9"/>
          <p:cNvSpPr/>
          <p:nvPr/>
        </p:nvSpPr>
        <p:spPr>
          <a:xfrm>
            <a:off x="960120" y="3255264"/>
            <a:ext cx="4846320" cy="32918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S1 · Dry — Removable Barrier</a:t>
            </a:r>
            <a:endParaRPr lang="en-US" sz="1350" dirty="0"/>
          </a:p>
        </p:txBody>
      </p:sp>
      <p:sp>
        <p:nvSpPr>
          <p:cNvPr id="12" name="Text 10"/>
          <p:cNvSpPr/>
          <p:nvPr/>
        </p:nvSpPr>
        <p:spPr>
          <a:xfrm>
            <a:off x="960120" y="3584448"/>
            <a:ext cx="4800600" cy="566928"/>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Deployable perimeter barrier of height PH; reversible, but holds back hydrostatic load.</a:t>
            </a:r>
            <a:endParaRPr lang="en-US" sz="1150" dirty="0"/>
          </a:p>
        </p:txBody>
      </p:sp>
      <p:sp>
        <p:nvSpPr>
          <p:cNvPr id="13" name="Shape 11"/>
          <p:cNvSpPr/>
          <p:nvPr/>
        </p:nvSpPr>
        <p:spPr>
          <a:xfrm>
            <a:off x="502920" y="4352544"/>
            <a:ext cx="5440680" cy="1024128"/>
          </a:xfrm>
          <a:prstGeom prst="roundRect">
            <a:avLst>
              <a:gd name="adj" fmla="val 8929"/>
            </a:avLst>
          </a:prstGeom>
          <a:solidFill>
            <a:srgbClr val="F1F5F9"/>
          </a:solidFill>
          <a:ln w="9525">
            <a:solidFill>
              <a:srgbClr val="E2E8F0"/>
            </a:solidFill>
            <a:prstDash val="solid"/>
          </a:ln>
        </p:spPr>
      </p:sp>
      <p:sp>
        <p:nvSpPr>
          <p:cNvPr id="14" name="Shape 12"/>
          <p:cNvSpPr/>
          <p:nvPr/>
        </p:nvSpPr>
        <p:spPr>
          <a:xfrm>
            <a:off x="685800" y="4526280"/>
            <a:ext cx="182880" cy="182880"/>
          </a:xfrm>
          <a:prstGeom prst="ellipse">
            <a:avLst/>
          </a:prstGeom>
          <a:solidFill>
            <a:srgbClr val="059669"/>
          </a:solidFill>
          <a:ln/>
        </p:spPr>
      </p:sp>
      <p:sp>
        <p:nvSpPr>
          <p:cNvPr id="15" name="Text 13"/>
          <p:cNvSpPr/>
          <p:nvPr/>
        </p:nvSpPr>
        <p:spPr>
          <a:xfrm>
            <a:off x="960120" y="4425696"/>
            <a:ext cx="4846320" cy="32918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S2 · Wet — Hydrostatic Vents</a:t>
            </a:r>
            <a:endParaRPr lang="en-US" sz="1350" dirty="0"/>
          </a:p>
        </p:txBody>
      </p:sp>
      <p:sp>
        <p:nvSpPr>
          <p:cNvPr id="16" name="Text 14"/>
          <p:cNvSpPr/>
          <p:nvPr/>
        </p:nvSpPr>
        <p:spPr>
          <a:xfrm>
            <a:off x="960120" y="4754880"/>
            <a:ext cx="4800600" cy="566928"/>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Lets water in on purpose to equalize pressure; protects the structure, sacrifices usability.</a:t>
            </a:r>
            <a:endParaRPr lang="en-US" sz="1150" dirty="0"/>
          </a:p>
        </p:txBody>
      </p:sp>
      <p:sp>
        <p:nvSpPr>
          <p:cNvPr id="17" name="Text 15"/>
          <p:cNvSpPr/>
          <p:nvPr/>
        </p:nvSpPr>
        <p:spPr>
          <a:xfrm>
            <a:off x="6355080" y="1645920"/>
            <a:ext cx="530352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Objectives (maximize all three)</a:t>
            </a:r>
            <a:endParaRPr lang="en-US" sz="1500" dirty="0"/>
          </a:p>
        </p:txBody>
      </p:sp>
      <p:sp>
        <p:nvSpPr>
          <p:cNvPr id="18" name="Text 16"/>
          <p:cNvSpPr/>
          <p:nvPr/>
        </p:nvSpPr>
        <p:spPr>
          <a:xfrm>
            <a:off x="6355080" y="2011680"/>
            <a:ext cx="1965960" cy="731520"/>
          </a:xfrm>
          <a:prstGeom prst="rect">
            <a:avLst/>
          </a:prstGeom>
          <a:noFill/>
          <a:ln/>
        </p:spPr>
        <p:txBody>
          <a:bodyPr wrap="square" lIns="0" tIns="0" rIns="0" bIns="0" rtlCol="0" anchor="ctr"/>
          <a:lstStyle/>
          <a:p>
            <a:pPr indent="0" marL="0">
              <a:buNone/>
            </a:pPr>
            <a:r>
              <a:rPr lang="en-US" sz="1300" b="1" dirty="0">
                <a:solidFill>
                  <a:srgbClr val="0284C7"/>
                </a:solidFill>
                <a:latin typeface="Calibri" pitchFamily="34" charset="0"/>
                <a:ea typeface="Calibri" pitchFamily="34" charset="-122"/>
                <a:cs typeface="Calibri" pitchFamily="34" charset="-120"/>
              </a:rPr>
              <a:t>A · Structural</a:t>
            </a:r>
            <a:endParaRPr lang="en-US" sz="1300" dirty="0"/>
          </a:p>
        </p:txBody>
      </p:sp>
      <p:sp>
        <p:nvSpPr>
          <p:cNvPr id="19" name="Text 17"/>
          <p:cNvSpPr/>
          <p:nvPr/>
        </p:nvSpPr>
        <p:spPr>
          <a:xfrm>
            <a:off x="8275320" y="2011680"/>
            <a:ext cx="342900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Hydrostatic + earth pressure vs shear and out-of-plane capacity over a triangular hydrograph</a:t>
            </a:r>
            <a:endParaRPr lang="en-US" sz="1100" dirty="0"/>
          </a:p>
        </p:txBody>
      </p:sp>
      <p:sp>
        <p:nvSpPr>
          <p:cNvPr id="20" name="Text 18"/>
          <p:cNvSpPr/>
          <p:nvPr/>
        </p:nvSpPr>
        <p:spPr>
          <a:xfrm>
            <a:off x="6355080" y="2852928"/>
            <a:ext cx="1965960" cy="731520"/>
          </a:xfrm>
          <a:prstGeom prst="rect">
            <a:avLst/>
          </a:prstGeom>
          <a:noFill/>
          <a:ln/>
        </p:spPr>
        <p:txBody>
          <a:bodyPr wrap="square" lIns="0" tIns="0" rIns="0" bIns="0" rtlCol="0" anchor="ctr"/>
          <a:lstStyle/>
          <a:p>
            <a:pPr indent="0" marL="0">
              <a:buNone/>
            </a:pPr>
            <a:r>
              <a:rPr lang="en-US" sz="1300" b="1" dirty="0">
                <a:solidFill>
                  <a:srgbClr val="0284C7"/>
                </a:solidFill>
                <a:latin typeface="Calibri" pitchFamily="34" charset="0"/>
                <a:ea typeface="Calibri" pitchFamily="34" charset="-122"/>
                <a:cs typeface="Calibri" pitchFamily="34" charset="-120"/>
              </a:rPr>
              <a:t>B · Preservation</a:t>
            </a:r>
            <a:endParaRPr lang="en-US" sz="1300" dirty="0"/>
          </a:p>
        </p:txBody>
      </p:sp>
      <p:sp>
        <p:nvSpPr>
          <p:cNvPr id="21" name="Text 19"/>
          <p:cNvSpPr/>
          <p:nvPr/>
        </p:nvSpPr>
        <p:spPr>
          <a:xfrm>
            <a:off x="8275320" y="2852928"/>
            <a:ext cx="342900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NPS-based sub-scores: reversibility, compatibility, distinguishability, moisture, fenestration</a:t>
            </a:r>
            <a:endParaRPr lang="en-US" sz="1100" dirty="0"/>
          </a:p>
        </p:txBody>
      </p:sp>
      <p:sp>
        <p:nvSpPr>
          <p:cNvPr id="22" name="Text 20"/>
          <p:cNvSpPr/>
          <p:nvPr/>
        </p:nvSpPr>
        <p:spPr>
          <a:xfrm>
            <a:off x="6355080" y="3694176"/>
            <a:ext cx="1965960" cy="731520"/>
          </a:xfrm>
          <a:prstGeom prst="rect">
            <a:avLst/>
          </a:prstGeom>
          <a:noFill/>
          <a:ln/>
        </p:spPr>
        <p:txBody>
          <a:bodyPr wrap="square" lIns="0" tIns="0" rIns="0" bIns="0" rtlCol="0" anchor="ctr"/>
          <a:lstStyle/>
          <a:p>
            <a:pPr indent="0" marL="0">
              <a:buNone/>
            </a:pPr>
            <a:r>
              <a:rPr lang="en-US" sz="1300" b="1" dirty="0">
                <a:solidFill>
                  <a:srgbClr val="0284C7"/>
                </a:solidFill>
                <a:latin typeface="Calibri" pitchFamily="34" charset="0"/>
                <a:ea typeface="Calibri" pitchFamily="34" charset="-122"/>
                <a:cs typeface="Calibri" pitchFamily="34" charset="-120"/>
              </a:rPr>
              <a:t>C · Utility</a:t>
            </a:r>
            <a:endParaRPr lang="en-US" sz="1300" dirty="0"/>
          </a:p>
        </p:txBody>
      </p:sp>
      <p:sp>
        <p:nvSpPr>
          <p:cNvPr id="23" name="Text 21"/>
          <p:cNvSpPr/>
          <p:nvPr/>
        </p:nvSpPr>
        <p:spPr>
          <a:xfrm>
            <a:off x="8275320" y="3694176"/>
            <a:ext cx="342900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Immediate usability, recovery time, and lifecycle cost</a:t>
            </a:r>
            <a:endParaRPr lang="en-US" sz="1100" dirty="0"/>
          </a:p>
        </p:txBody>
      </p:sp>
      <p:sp>
        <p:nvSpPr>
          <p:cNvPr id="24" name="Shape 22"/>
          <p:cNvSpPr/>
          <p:nvPr/>
        </p:nvSpPr>
        <p:spPr>
          <a:xfrm>
            <a:off x="6355080" y="4709160"/>
            <a:ext cx="1691640" cy="1554480"/>
          </a:xfrm>
          <a:prstGeom prst="roundRect">
            <a:avLst>
              <a:gd name="adj" fmla="val 5882"/>
            </a:avLst>
          </a:prstGeom>
          <a:solidFill>
            <a:srgbClr val="E0F2FE"/>
          </a:solidFill>
          <a:ln/>
        </p:spPr>
      </p:sp>
      <p:sp>
        <p:nvSpPr>
          <p:cNvPr id="25" name="Text 23"/>
          <p:cNvSpPr/>
          <p:nvPr/>
        </p:nvSpPr>
        <p:spPr>
          <a:xfrm>
            <a:off x="6355080" y="4846320"/>
            <a:ext cx="1691640" cy="640080"/>
          </a:xfrm>
          <a:prstGeom prst="rect">
            <a:avLst/>
          </a:prstGeom>
          <a:noFill/>
          <a:ln/>
        </p:spPr>
        <p:txBody>
          <a:bodyPr wrap="square" lIns="0" tIns="0" rIns="0" bIns="0" rtlCol="0" anchor="ctr"/>
          <a:lstStyle/>
          <a:p>
            <a:pPr algn="ctr" indent="0" marL="0">
              <a:buNone/>
            </a:pPr>
            <a:r>
              <a:rPr lang="en-US" sz="3000" b="1" dirty="0">
                <a:solidFill>
                  <a:srgbClr val="0284C7"/>
                </a:solidFill>
                <a:latin typeface="Calibri" pitchFamily="34" charset="0"/>
                <a:ea typeface="Calibri" pitchFamily="34" charset="-122"/>
                <a:cs typeface="Calibri" pitchFamily="34" charset="-120"/>
              </a:rPr>
              <a:t>495</a:t>
            </a:r>
            <a:endParaRPr lang="en-US" sz="3000" dirty="0"/>
          </a:p>
        </p:txBody>
      </p:sp>
      <p:sp>
        <p:nvSpPr>
          <p:cNvPr id="26" name="Text 24"/>
          <p:cNvSpPr/>
          <p:nvPr/>
        </p:nvSpPr>
        <p:spPr>
          <a:xfrm>
            <a:off x="6428232" y="5532120"/>
            <a:ext cx="1554480" cy="64008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candidates per live</a:t>
            </a:r>
            <a:endParaRPr lang="en-US" sz="1000" dirty="0"/>
          </a:p>
          <a:p>
            <a:pPr algn="ctr" indent="0" marL="0">
              <a:buNone/>
            </a:pPr>
            <a:r>
              <a:rPr lang="en-US" sz="1000" dirty="0">
                <a:solidFill>
                  <a:srgbClr val="475569"/>
                </a:solidFill>
                <a:latin typeface="Calibri" pitchFamily="34" charset="0"/>
                <a:ea typeface="Calibri" pitchFamily="34" charset="-122"/>
                <a:cs typeface="Calibri" pitchFamily="34" charset="-120"/>
              </a:rPr>
              <a:t>grid search</a:t>
            </a:r>
            <a:endParaRPr lang="en-US" sz="1000" dirty="0"/>
          </a:p>
        </p:txBody>
      </p:sp>
      <p:sp>
        <p:nvSpPr>
          <p:cNvPr id="27" name="Shape 25"/>
          <p:cNvSpPr/>
          <p:nvPr/>
        </p:nvSpPr>
        <p:spPr>
          <a:xfrm>
            <a:off x="8183880" y="4709160"/>
            <a:ext cx="1691640" cy="1554480"/>
          </a:xfrm>
          <a:prstGeom prst="roundRect">
            <a:avLst>
              <a:gd name="adj" fmla="val 5882"/>
            </a:avLst>
          </a:prstGeom>
          <a:solidFill>
            <a:srgbClr val="E0F2FE"/>
          </a:solidFill>
          <a:ln/>
        </p:spPr>
      </p:sp>
      <p:sp>
        <p:nvSpPr>
          <p:cNvPr id="28" name="Text 26"/>
          <p:cNvSpPr/>
          <p:nvPr/>
        </p:nvSpPr>
        <p:spPr>
          <a:xfrm>
            <a:off x="8183880" y="4846320"/>
            <a:ext cx="1691640" cy="640080"/>
          </a:xfrm>
          <a:prstGeom prst="rect">
            <a:avLst/>
          </a:prstGeom>
          <a:noFill/>
          <a:ln/>
        </p:spPr>
        <p:txBody>
          <a:bodyPr wrap="square" lIns="0" tIns="0" rIns="0" bIns="0" rtlCol="0" anchor="ctr"/>
          <a:lstStyle/>
          <a:p>
            <a:pPr algn="ctr" indent="0" marL="0">
              <a:buNone/>
            </a:pPr>
            <a:r>
              <a:rPr lang="en-US" sz="3000" b="1" dirty="0">
                <a:solidFill>
                  <a:srgbClr val="0284C7"/>
                </a:solidFill>
                <a:latin typeface="Calibri" pitchFamily="34" charset="0"/>
                <a:ea typeface="Calibri" pitchFamily="34" charset="-122"/>
                <a:cs typeface="Calibri" pitchFamily="34" charset="-120"/>
              </a:rPr>
              <a:t>2</a:t>
            </a:r>
            <a:endParaRPr lang="en-US" sz="3000" dirty="0"/>
          </a:p>
        </p:txBody>
      </p:sp>
      <p:sp>
        <p:nvSpPr>
          <p:cNvPr id="29" name="Text 27"/>
          <p:cNvSpPr/>
          <p:nvPr/>
        </p:nvSpPr>
        <p:spPr>
          <a:xfrm>
            <a:off x="8257032" y="5532120"/>
            <a:ext cx="1554480" cy="64008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design genes:</a:t>
            </a:r>
            <a:endParaRPr lang="en-US" sz="1000" dirty="0"/>
          </a:p>
          <a:p>
            <a:pPr algn="ctr" indent="0" marL="0">
              <a:buNone/>
            </a:pPr>
            <a:r>
              <a:rPr lang="en-US" sz="1000" dirty="0">
                <a:solidFill>
                  <a:srgbClr val="475569"/>
                </a:solidFill>
                <a:latin typeface="Calibri" pitchFamily="34" charset="0"/>
                <a:ea typeface="Calibri" pitchFamily="34" charset="-122"/>
                <a:cs typeface="Calibri" pitchFamily="34" charset="-120"/>
              </a:rPr>
              <a:t>PH (m) + VIF</a:t>
            </a:r>
            <a:endParaRPr lang="en-US" sz="1000" dirty="0"/>
          </a:p>
        </p:txBody>
      </p:sp>
      <p:sp>
        <p:nvSpPr>
          <p:cNvPr id="30" name="Shape 28"/>
          <p:cNvSpPr/>
          <p:nvPr/>
        </p:nvSpPr>
        <p:spPr>
          <a:xfrm>
            <a:off x="10012680" y="4709160"/>
            <a:ext cx="1691640" cy="1554480"/>
          </a:xfrm>
          <a:prstGeom prst="roundRect">
            <a:avLst>
              <a:gd name="adj" fmla="val 5882"/>
            </a:avLst>
          </a:prstGeom>
          <a:solidFill>
            <a:srgbClr val="E0F2FE"/>
          </a:solidFill>
          <a:ln/>
        </p:spPr>
      </p:sp>
      <p:sp>
        <p:nvSpPr>
          <p:cNvPr id="31" name="Text 29"/>
          <p:cNvSpPr/>
          <p:nvPr/>
        </p:nvSpPr>
        <p:spPr>
          <a:xfrm>
            <a:off x="10012680" y="4846320"/>
            <a:ext cx="1691640" cy="640080"/>
          </a:xfrm>
          <a:prstGeom prst="rect">
            <a:avLst/>
          </a:prstGeom>
          <a:noFill/>
          <a:ln/>
        </p:spPr>
        <p:txBody>
          <a:bodyPr wrap="square" lIns="0" tIns="0" rIns="0" bIns="0" rtlCol="0" anchor="ctr"/>
          <a:lstStyle/>
          <a:p>
            <a:pPr algn="ctr" indent="0" marL="0">
              <a:buNone/>
            </a:pPr>
            <a:r>
              <a:rPr lang="en-US" sz="3000" b="1" dirty="0">
                <a:solidFill>
                  <a:srgbClr val="0284C7"/>
                </a:solidFill>
                <a:latin typeface="Calibri" pitchFamily="34" charset="0"/>
                <a:ea typeface="Calibri" pitchFamily="34" charset="-122"/>
                <a:cs typeface="Calibri" pitchFamily="34" charset="-120"/>
              </a:rPr>
              <a:t>min</a:t>
            </a:r>
            <a:endParaRPr lang="en-US" sz="3000" dirty="0"/>
          </a:p>
        </p:txBody>
      </p:sp>
      <p:sp>
        <p:nvSpPr>
          <p:cNvPr id="32" name="Text 30"/>
          <p:cNvSpPr/>
          <p:nvPr/>
        </p:nvSpPr>
        <p:spPr>
          <a:xfrm>
            <a:off x="10085832" y="5532120"/>
            <a:ext cx="1554480" cy="64008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composite = worst of</a:t>
            </a:r>
            <a:endParaRPr lang="en-US" sz="1000" dirty="0"/>
          </a:p>
          <a:p>
            <a:pPr algn="ctr" indent="0" marL="0">
              <a:buNone/>
            </a:pPr>
            <a:r>
              <a:rPr lang="en-US" sz="1000" dirty="0">
                <a:solidFill>
                  <a:srgbClr val="475569"/>
                </a:solidFill>
                <a:latin typeface="Calibri" pitchFamily="34" charset="0"/>
                <a:ea typeface="Calibri" pitchFamily="34" charset="-122"/>
                <a:cs typeface="Calibri" pitchFamily="34" charset="-120"/>
              </a:rPr>
              <a:t>the 3 objectives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77824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One dashboard, two engines</a:t>
            </a:r>
            <a:endParaRPr lang="en-US" sz="3000" dirty="0"/>
          </a:p>
        </p:txBody>
      </p:sp>
      <p:sp>
        <p:nvSpPr>
          <p:cNvPr id="3" name="Shape 1"/>
          <p:cNvSpPr/>
          <p:nvPr/>
        </p:nvSpPr>
        <p:spPr>
          <a:xfrm>
            <a:off x="9692640" y="457200"/>
            <a:ext cx="827532" cy="274320"/>
          </a:xfrm>
          <a:prstGeom prst="roundRect">
            <a:avLst>
              <a:gd name="adj" fmla="val 50000"/>
            </a:avLst>
          </a:prstGeom>
          <a:solidFill>
            <a:srgbClr val="E0F2FE"/>
          </a:solidFill>
          <a:ln w="9525">
            <a:solidFill>
              <a:srgbClr val="0284C7"/>
            </a:solidFill>
            <a:prstDash val="solid"/>
          </a:ln>
        </p:spPr>
      </p:sp>
      <p:sp>
        <p:nvSpPr>
          <p:cNvPr id="4" name="Text 2"/>
          <p:cNvSpPr/>
          <p:nvPr/>
        </p:nvSpPr>
        <p:spPr>
          <a:xfrm>
            <a:off x="9692640" y="457200"/>
            <a:ext cx="827532" cy="274320"/>
          </a:xfrm>
          <a:prstGeom prst="rect">
            <a:avLst/>
          </a:prstGeom>
          <a:noFill/>
          <a:ln/>
        </p:spPr>
        <p:txBody>
          <a:bodyPr wrap="square" lIns="0" tIns="0" rIns="0" bIns="0" rtlCol="0" anchor="ctr"/>
          <a:lstStyle/>
          <a:p>
            <a:pPr algn="ctr" indent="0" marL="0">
              <a:buNone/>
            </a:pPr>
            <a:r>
              <a:rPr lang="en-US" sz="1000" b="1" spc="100" kern="0" dirty="0">
                <a:solidFill>
                  <a:srgbClr val="0284C7"/>
                </a:solidFill>
                <a:latin typeface="Calibri" pitchFamily="34" charset="0"/>
                <a:ea typeface="Calibri" pitchFamily="34" charset="-122"/>
                <a:cs typeface="Calibri" pitchFamily="34" charset="-120"/>
              </a:rPr>
              <a:t>JS · LIVE</a:t>
            </a:r>
            <a:endParaRPr lang="en-US" sz="1000" dirty="0"/>
          </a:p>
        </p:txBody>
      </p:sp>
      <p:sp>
        <p:nvSpPr>
          <p:cNvPr id="5" name="Shape 3"/>
          <p:cNvSpPr/>
          <p:nvPr/>
        </p:nvSpPr>
        <p:spPr>
          <a:xfrm>
            <a:off x="10607040" y="457200"/>
            <a:ext cx="1138428" cy="274320"/>
          </a:xfrm>
          <a:prstGeom prst="roundRect">
            <a:avLst>
              <a:gd name="adj" fmla="val 50000"/>
            </a:avLst>
          </a:prstGeom>
          <a:solidFill>
            <a:srgbClr val="E0E7FF"/>
          </a:solidFill>
          <a:ln w="9525">
            <a:solidFill>
              <a:srgbClr val="6366F1"/>
            </a:solidFill>
            <a:prstDash val="solid"/>
          </a:ln>
        </p:spPr>
      </p:sp>
      <p:sp>
        <p:nvSpPr>
          <p:cNvPr id="6" name="Text 4"/>
          <p:cNvSpPr/>
          <p:nvPr/>
        </p:nvSpPr>
        <p:spPr>
          <a:xfrm>
            <a:off x="10607040" y="457200"/>
            <a:ext cx="1138428" cy="274320"/>
          </a:xfrm>
          <a:prstGeom prst="rect">
            <a:avLst/>
          </a:prstGeom>
          <a:noFill/>
          <a:ln/>
        </p:spPr>
        <p:txBody>
          <a:bodyPr wrap="square" lIns="0" tIns="0" rIns="0" bIns="0" rtlCol="0" anchor="ctr"/>
          <a:lstStyle/>
          <a:p>
            <a:pPr algn="ctr" indent="0" marL="0">
              <a:buNone/>
            </a:pPr>
            <a:r>
              <a:rPr lang="en-US" sz="1000" b="1" spc="100" kern="0" dirty="0">
                <a:solidFill>
                  <a:srgbClr val="6366F1"/>
                </a:solidFill>
                <a:latin typeface="Calibri" pitchFamily="34" charset="0"/>
                <a:ea typeface="Calibri" pitchFamily="34" charset="-122"/>
                <a:cs typeface="Calibri" pitchFamily="34" charset="-120"/>
              </a:rPr>
              <a:t>MOGA · PYTHON</a:t>
            </a:r>
            <a:endParaRPr lang="en-US" sz="1000" dirty="0"/>
          </a:p>
        </p:txBody>
      </p:sp>
      <p:sp>
        <p:nvSpPr>
          <p:cNvPr id="7" name="Shape 5"/>
          <p:cNvSpPr/>
          <p:nvPr/>
        </p:nvSpPr>
        <p:spPr>
          <a:xfrm>
            <a:off x="502920" y="1143000"/>
            <a:ext cx="5532120" cy="2377440"/>
          </a:xfrm>
          <a:prstGeom prst="roundRect">
            <a:avLst>
              <a:gd name="adj" fmla="val 4615"/>
            </a:avLst>
          </a:prstGeom>
          <a:solidFill>
            <a:srgbClr val="F0F9FF"/>
          </a:solidFill>
          <a:ln w="12700">
            <a:solidFill>
              <a:srgbClr val="7DD3FC"/>
            </a:solidFill>
            <a:prstDash val="solid"/>
          </a:ln>
        </p:spPr>
      </p:sp>
      <p:sp>
        <p:nvSpPr>
          <p:cNvPr id="8" name="Shape 6"/>
          <p:cNvSpPr/>
          <p:nvPr/>
        </p:nvSpPr>
        <p:spPr>
          <a:xfrm>
            <a:off x="777240" y="1371600"/>
            <a:ext cx="827532" cy="274320"/>
          </a:xfrm>
          <a:prstGeom prst="roundRect">
            <a:avLst>
              <a:gd name="adj" fmla="val 50000"/>
            </a:avLst>
          </a:prstGeom>
          <a:solidFill>
            <a:srgbClr val="E0F2FE"/>
          </a:solidFill>
          <a:ln w="9525">
            <a:solidFill>
              <a:srgbClr val="0284C7"/>
            </a:solidFill>
            <a:prstDash val="solid"/>
          </a:ln>
        </p:spPr>
      </p:sp>
      <p:sp>
        <p:nvSpPr>
          <p:cNvPr id="9" name="Text 7"/>
          <p:cNvSpPr/>
          <p:nvPr/>
        </p:nvSpPr>
        <p:spPr>
          <a:xfrm>
            <a:off x="777240" y="1371600"/>
            <a:ext cx="827532" cy="274320"/>
          </a:xfrm>
          <a:prstGeom prst="rect">
            <a:avLst/>
          </a:prstGeom>
          <a:noFill/>
          <a:ln/>
        </p:spPr>
        <p:txBody>
          <a:bodyPr wrap="square" lIns="0" tIns="0" rIns="0" bIns="0" rtlCol="0" anchor="ctr"/>
          <a:lstStyle/>
          <a:p>
            <a:pPr algn="ctr" indent="0" marL="0">
              <a:buNone/>
            </a:pPr>
            <a:r>
              <a:rPr lang="en-US" sz="1000" b="1" spc="100" kern="0" dirty="0">
                <a:solidFill>
                  <a:srgbClr val="0284C7"/>
                </a:solidFill>
                <a:latin typeface="Calibri" pitchFamily="34" charset="0"/>
                <a:ea typeface="Calibri" pitchFamily="34" charset="-122"/>
                <a:cs typeface="Calibri" pitchFamily="34" charset="-120"/>
              </a:rPr>
              <a:t>JS · LIVE</a:t>
            </a:r>
            <a:endParaRPr lang="en-US" sz="1000" dirty="0"/>
          </a:p>
        </p:txBody>
      </p:sp>
      <p:sp>
        <p:nvSpPr>
          <p:cNvPr id="10" name="Text 8"/>
          <p:cNvSpPr/>
          <p:nvPr/>
        </p:nvSpPr>
        <p:spPr>
          <a:xfrm>
            <a:off x="777240" y="1783080"/>
            <a:ext cx="50292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In-browser surrogate engine</a:t>
            </a:r>
            <a:endParaRPr lang="en-US" sz="1600" dirty="0"/>
          </a:p>
        </p:txBody>
      </p:sp>
      <p:sp>
        <p:nvSpPr>
          <p:cNvPr id="11" name="Text 9"/>
          <p:cNvSpPr/>
          <p:nvPr/>
        </p:nvSpPr>
        <p:spPr>
          <a:xfrm>
            <a:off x="777240" y="219456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Exhaustive grid search over 495 candidates (3 strategies × 15 PH × 11 VIF)</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Recomputes every chart instantly on each slider change</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Deterministic simplification of the Python model</a:t>
            </a:r>
            <a:endParaRPr lang="en-US" sz="1200" dirty="0"/>
          </a:p>
        </p:txBody>
      </p:sp>
      <p:sp>
        <p:nvSpPr>
          <p:cNvPr id="12" name="Shape 10"/>
          <p:cNvSpPr/>
          <p:nvPr/>
        </p:nvSpPr>
        <p:spPr>
          <a:xfrm>
            <a:off x="6263640" y="1143000"/>
            <a:ext cx="5532120" cy="2377440"/>
          </a:xfrm>
          <a:prstGeom prst="roundRect">
            <a:avLst>
              <a:gd name="adj" fmla="val 4615"/>
            </a:avLst>
          </a:prstGeom>
          <a:solidFill>
            <a:srgbClr val="EEF2FF"/>
          </a:solidFill>
          <a:ln w="12700">
            <a:solidFill>
              <a:srgbClr val="A5B4FC"/>
            </a:solidFill>
            <a:prstDash val="solid"/>
          </a:ln>
        </p:spPr>
      </p:sp>
      <p:sp>
        <p:nvSpPr>
          <p:cNvPr id="13" name="Shape 11"/>
          <p:cNvSpPr/>
          <p:nvPr/>
        </p:nvSpPr>
        <p:spPr>
          <a:xfrm>
            <a:off x="6537960" y="1371600"/>
            <a:ext cx="1138428" cy="274320"/>
          </a:xfrm>
          <a:prstGeom prst="roundRect">
            <a:avLst>
              <a:gd name="adj" fmla="val 50000"/>
            </a:avLst>
          </a:prstGeom>
          <a:solidFill>
            <a:srgbClr val="E0E7FF"/>
          </a:solidFill>
          <a:ln w="9525">
            <a:solidFill>
              <a:srgbClr val="6366F1"/>
            </a:solidFill>
            <a:prstDash val="solid"/>
          </a:ln>
        </p:spPr>
      </p:sp>
      <p:sp>
        <p:nvSpPr>
          <p:cNvPr id="14" name="Text 12"/>
          <p:cNvSpPr/>
          <p:nvPr/>
        </p:nvSpPr>
        <p:spPr>
          <a:xfrm>
            <a:off x="6537960" y="1371600"/>
            <a:ext cx="1138428" cy="274320"/>
          </a:xfrm>
          <a:prstGeom prst="rect">
            <a:avLst/>
          </a:prstGeom>
          <a:noFill/>
          <a:ln/>
        </p:spPr>
        <p:txBody>
          <a:bodyPr wrap="square" lIns="0" tIns="0" rIns="0" bIns="0" rtlCol="0" anchor="ctr"/>
          <a:lstStyle/>
          <a:p>
            <a:pPr algn="ctr" indent="0" marL="0">
              <a:buNone/>
            </a:pPr>
            <a:r>
              <a:rPr lang="en-US" sz="1000" b="1" spc="100" kern="0" dirty="0">
                <a:solidFill>
                  <a:srgbClr val="6366F1"/>
                </a:solidFill>
                <a:latin typeface="Calibri" pitchFamily="34" charset="0"/>
                <a:ea typeface="Calibri" pitchFamily="34" charset="-122"/>
                <a:cs typeface="Calibri" pitchFamily="34" charset="-120"/>
              </a:rPr>
              <a:t>MOGA · PYTHON</a:t>
            </a:r>
            <a:endParaRPr lang="en-US" sz="1000" dirty="0"/>
          </a:p>
        </p:txBody>
      </p:sp>
      <p:sp>
        <p:nvSpPr>
          <p:cNvPr id="15" name="Text 13"/>
          <p:cNvSpPr/>
          <p:nvPr/>
        </p:nvSpPr>
        <p:spPr>
          <a:xfrm>
            <a:off x="6537960" y="1783080"/>
            <a:ext cx="50292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Full MOGA engine (Python)</a:t>
            </a:r>
            <a:endParaRPr lang="en-US" sz="1600" dirty="0"/>
          </a:p>
        </p:txBody>
      </p:sp>
      <p:sp>
        <p:nvSpPr>
          <p:cNvPr id="16" name="Text 14"/>
          <p:cNvSpPr/>
          <p:nvPr/>
        </p:nvSpPr>
        <p:spPr>
          <a:xfrm>
            <a:off x="6537960" y="219456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NSGA-II · 20 seeds × 300 generations × population 50</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Monte-Carlo scenario sampling + risk-averse aggregation</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999 Pareto-front points embedded · live re-runs via local server</a:t>
            </a:r>
            <a:endParaRPr lang="en-US" sz="1200" dirty="0"/>
          </a:p>
        </p:txBody>
      </p:sp>
      <p:sp>
        <p:nvSpPr>
          <p:cNvPr id="17" name="Shape 15"/>
          <p:cNvSpPr/>
          <p:nvPr/>
        </p:nvSpPr>
        <p:spPr>
          <a:xfrm>
            <a:off x="502920" y="3794760"/>
            <a:ext cx="11292840" cy="2514600"/>
          </a:xfrm>
          <a:prstGeom prst="roundRect">
            <a:avLst>
              <a:gd name="adj" fmla="val 4364"/>
            </a:avLst>
          </a:prstGeom>
          <a:solidFill>
            <a:srgbClr val="F1F5F9"/>
          </a:solidFill>
          <a:ln/>
        </p:spPr>
      </p:sp>
      <p:sp>
        <p:nvSpPr>
          <p:cNvPr id="18" name="Text 16"/>
          <p:cNvSpPr/>
          <p:nvPr/>
        </p:nvSpPr>
        <p:spPr>
          <a:xfrm>
            <a:off x="777240" y="3950208"/>
            <a:ext cx="54864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How they connect</a:t>
            </a:r>
            <a:endParaRPr lang="en-US" sz="1400" dirty="0"/>
          </a:p>
        </p:txBody>
      </p:sp>
      <p:sp>
        <p:nvSpPr>
          <p:cNvPr id="19" name="Shape 17"/>
          <p:cNvSpPr/>
          <p:nvPr/>
        </p:nvSpPr>
        <p:spPr>
          <a:xfrm>
            <a:off x="777240" y="4434840"/>
            <a:ext cx="1956816" cy="1554480"/>
          </a:xfrm>
          <a:prstGeom prst="roundRect">
            <a:avLst>
              <a:gd name="adj" fmla="val 5882"/>
            </a:avLst>
          </a:prstGeom>
          <a:solidFill>
            <a:srgbClr val="FFFFFF"/>
          </a:solidFill>
          <a:ln w="9525">
            <a:solidFill>
              <a:srgbClr val="CBD5E1"/>
            </a:solidFill>
            <a:prstDash val="solid"/>
          </a:ln>
        </p:spPr>
      </p:sp>
      <p:sp>
        <p:nvSpPr>
          <p:cNvPr id="20" name="Text 18"/>
          <p:cNvSpPr/>
          <p:nvPr/>
        </p:nvSpPr>
        <p:spPr>
          <a:xfrm>
            <a:off x="832104" y="4434840"/>
            <a:ext cx="1847088" cy="155448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Sliders</a:t>
            </a:r>
            <a:endParaRPr lang="en-US" sz="1050" dirty="0"/>
          </a:p>
          <a:p>
            <a:pPr algn="ctr" indent="0" marL="0">
              <a:buNone/>
            </a:pPr>
            <a:r>
              <a:rPr lang="en-US" sz="1050" b="1" dirty="0">
                <a:solidFill>
                  <a:srgbClr val="0F172A"/>
                </a:solidFill>
                <a:latin typeface="Calibri" pitchFamily="34" charset="0"/>
                <a:ea typeface="Calibri" pitchFamily="34" charset="-122"/>
                <a:cs typeface="Calibri" pitchFamily="34" charset="-120"/>
              </a:rPr>
              <a:t>(building profile +</a:t>
            </a:r>
            <a:endParaRPr lang="en-US" sz="1050" dirty="0"/>
          </a:p>
          <a:p>
            <a:pPr algn="ctr" indent="0" marL="0">
              <a:buNone/>
            </a:pPr>
            <a:r>
              <a:rPr lang="en-US" sz="1050" b="1" dirty="0">
                <a:solidFill>
                  <a:srgbClr val="0F172A"/>
                </a:solidFill>
                <a:latin typeface="Calibri" pitchFamily="34" charset="0"/>
                <a:ea typeface="Calibri" pitchFamily="34" charset="-122"/>
                <a:cs typeface="Calibri" pitchFamily="34" charset="-120"/>
              </a:rPr>
              <a:t>model parameters)</a:t>
            </a:r>
            <a:endParaRPr lang="en-US" sz="1050" dirty="0"/>
          </a:p>
        </p:txBody>
      </p:sp>
      <p:sp>
        <p:nvSpPr>
          <p:cNvPr id="21" name="Text 19"/>
          <p:cNvSpPr/>
          <p:nvPr/>
        </p:nvSpPr>
        <p:spPr>
          <a:xfrm>
            <a:off x="2734056" y="4983480"/>
            <a:ext cx="329184" cy="45720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3063240" y="4434840"/>
            <a:ext cx="1956816" cy="1554480"/>
          </a:xfrm>
          <a:prstGeom prst="roundRect">
            <a:avLst>
              <a:gd name="adj" fmla="val 5882"/>
            </a:avLst>
          </a:prstGeom>
          <a:solidFill>
            <a:srgbClr val="E0F2FE"/>
          </a:solidFill>
          <a:ln w="9525">
            <a:solidFill>
              <a:srgbClr val="CBD5E1"/>
            </a:solidFill>
            <a:prstDash val="solid"/>
          </a:ln>
        </p:spPr>
      </p:sp>
      <p:sp>
        <p:nvSpPr>
          <p:cNvPr id="23" name="Text 21"/>
          <p:cNvSpPr/>
          <p:nvPr/>
        </p:nvSpPr>
        <p:spPr>
          <a:xfrm>
            <a:off x="3118104" y="4434840"/>
            <a:ext cx="1847088" cy="1554480"/>
          </a:xfrm>
          <a:prstGeom prst="rect">
            <a:avLst/>
          </a:prstGeom>
          <a:noFill/>
          <a:ln/>
        </p:spPr>
        <p:txBody>
          <a:bodyPr wrap="square" lIns="0" tIns="0" rIns="0" bIns="0" rtlCol="0" anchor="ctr"/>
          <a:lstStyle/>
          <a:p>
            <a:pPr algn="ctr" indent="0" marL="0">
              <a:buNone/>
            </a:pPr>
            <a:r>
              <a:rPr lang="en-US" sz="1050" b="1" dirty="0">
                <a:solidFill>
                  <a:srgbClr val="0284C7"/>
                </a:solidFill>
                <a:latin typeface="Calibri" pitchFamily="34" charset="0"/>
                <a:ea typeface="Calibri" pitchFamily="34" charset="-122"/>
                <a:cs typeface="Calibri" pitchFamily="34" charset="-120"/>
              </a:rPr>
              <a:t>JS engine</a:t>
            </a:r>
            <a:endParaRPr lang="en-US" sz="1050" dirty="0"/>
          </a:p>
          <a:p>
            <a:pPr algn="ctr" indent="0" marL="0">
              <a:buNone/>
            </a:pPr>
            <a:r>
              <a:rPr lang="en-US" sz="1050" b="1" dirty="0">
                <a:solidFill>
                  <a:srgbClr val="0284C7"/>
                </a:solidFill>
                <a:latin typeface="Calibri" pitchFamily="34" charset="0"/>
                <a:ea typeface="Calibri" pitchFamily="34" charset="-122"/>
                <a:cs typeface="Calibri" pitchFamily="34" charset="-120"/>
              </a:rPr>
              <a:t>grid search</a:t>
            </a:r>
            <a:endParaRPr lang="en-US" sz="1050" dirty="0"/>
          </a:p>
          <a:p>
            <a:pPr algn="ctr" indent="0" marL="0">
              <a:buNone/>
            </a:pPr>
            <a:r>
              <a:rPr lang="en-US" sz="1050" b="1" dirty="0">
                <a:solidFill>
                  <a:srgbClr val="0284C7"/>
                </a:solidFill>
                <a:latin typeface="Calibri" pitchFamily="34" charset="0"/>
                <a:ea typeface="Calibri" pitchFamily="34" charset="-122"/>
                <a:cs typeface="Calibri" pitchFamily="34" charset="-120"/>
              </a:rPr>
              <a:t>495 candidates</a:t>
            </a:r>
            <a:endParaRPr lang="en-US" sz="1050" dirty="0"/>
          </a:p>
        </p:txBody>
      </p:sp>
      <p:sp>
        <p:nvSpPr>
          <p:cNvPr id="24" name="Text 22"/>
          <p:cNvSpPr/>
          <p:nvPr/>
        </p:nvSpPr>
        <p:spPr>
          <a:xfrm>
            <a:off x="5020056" y="4983480"/>
            <a:ext cx="329184" cy="45720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5349240" y="4434840"/>
            <a:ext cx="1956816" cy="1554480"/>
          </a:xfrm>
          <a:prstGeom prst="roundRect">
            <a:avLst>
              <a:gd name="adj" fmla="val 5882"/>
            </a:avLst>
          </a:prstGeom>
          <a:solidFill>
            <a:srgbClr val="FFFFFF"/>
          </a:solidFill>
          <a:ln w="9525">
            <a:solidFill>
              <a:srgbClr val="CBD5E1"/>
            </a:solidFill>
            <a:prstDash val="solid"/>
          </a:ln>
        </p:spPr>
      </p:sp>
      <p:sp>
        <p:nvSpPr>
          <p:cNvPr id="26" name="Text 24"/>
          <p:cNvSpPr/>
          <p:nvPr/>
        </p:nvSpPr>
        <p:spPr>
          <a:xfrm>
            <a:off x="5404104" y="4434840"/>
            <a:ext cx="1847088" cy="155448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Live charts</a:t>
            </a:r>
            <a:endParaRPr lang="en-US" sz="1050" dirty="0"/>
          </a:p>
          <a:p>
            <a:pPr algn="ctr" indent="0" marL="0">
              <a:buNone/>
            </a:pPr>
            <a:r>
              <a:rPr lang="en-US" sz="1050" b="1" dirty="0">
                <a:solidFill>
                  <a:srgbClr val="0F172A"/>
                </a:solidFill>
                <a:latin typeface="Calibri" pitchFamily="34" charset="0"/>
                <a:ea typeface="Calibri" pitchFamily="34" charset="-122"/>
                <a:cs typeface="Calibri" pitchFamily="34" charset="-120"/>
              </a:rPr>
              <a:t>KPIs · radar · section</a:t>
            </a:r>
            <a:endParaRPr lang="en-US" sz="1050" dirty="0"/>
          </a:p>
          <a:p>
            <a:pPr algn="ctr" indent="0" marL="0">
              <a:buNone/>
            </a:pPr>
            <a:r>
              <a:rPr lang="en-US" sz="1050" b="1" dirty="0">
                <a:solidFill>
                  <a:srgbClr val="0F172A"/>
                </a:solidFill>
                <a:latin typeface="Calibri" pitchFamily="34" charset="0"/>
                <a:ea typeface="Calibri" pitchFamily="34" charset="-122"/>
                <a:cs typeface="Calibri" pitchFamily="34" charset="-120"/>
              </a:rPr>
              <a:t>par-coords · 3D</a:t>
            </a:r>
            <a:endParaRPr lang="en-US" sz="1050" dirty="0"/>
          </a:p>
        </p:txBody>
      </p:sp>
      <p:sp>
        <p:nvSpPr>
          <p:cNvPr id="27" name="Text 25"/>
          <p:cNvSpPr/>
          <p:nvPr/>
        </p:nvSpPr>
        <p:spPr>
          <a:xfrm>
            <a:off x="7306056" y="4983480"/>
            <a:ext cx="329184" cy="45720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7635240" y="4434840"/>
            <a:ext cx="1956816" cy="1554480"/>
          </a:xfrm>
          <a:prstGeom prst="roundRect">
            <a:avLst>
              <a:gd name="adj" fmla="val 5882"/>
            </a:avLst>
          </a:prstGeom>
          <a:solidFill>
            <a:srgbClr val="E0E7FF"/>
          </a:solidFill>
          <a:ln w="9525">
            <a:solidFill>
              <a:srgbClr val="CBD5E1"/>
            </a:solidFill>
            <a:prstDash val="solid"/>
          </a:ln>
        </p:spPr>
      </p:sp>
      <p:sp>
        <p:nvSpPr>
          <p:cNvPr id="29" name="Text 27"/>
          <p:cNvSpPr/>
          <p:nvPr/>
        </p:nvSpPr>
        <p:spPr>
          <a:xfrm>
            <a:off x="7690104" y="4434840"/>
            <a:ext cx="1847088" cy="1554480"/>
          </a:xfrm>
          <a:prstGeom prst="rect">
            <a:avLst/>
          </a:prstGeom>
          <a:noFill/>
          <a:ln/>
        </p:spPr>
        <p:txBody>
          <a:bodyPr wrap="square" lIns="0" tIns="0" rIns="0" bIns="0" rtlCol="0" anchor="ctr"/>
          <a:lstStyle/>
          <a:p>
            <a:pPr algn="ctr" indent="0" marL="0">
              <a:buNone/>
            </a:pPr>
            <a:r>
              <a:rPr lang="en-US" sz="1050" b="1" dirty="0">
                <a:solidFill>
                  <a:srgbClr val="6366F1"/>
                </a:solidFill>
                <a:latin typeface="Calibri" pitchFamily="34" charset="0"/>
                <a:ea typeface="Calibri" pitchFamily="34" charset="-122"/>
                <a:cs typeface="Calibri" pitchFamily="34" charset="-120"/>
              </a:rPr>
              <a:t>moga_server.py</a:t>
            </a:r>
            <a:endParaRPr lang="en-US" sz="1050" dirty="0"/>
          </a:p>
          <a:p>
            <a:pPr algn="ctr" indent="0" marL="0">
              <a:buNone/>
            </a:pPr>
            <a:r>
              <a:rPr lang="en-US" sz="1050" b="1" dirty="0">
                <a:solidFill>
                  <a:srgbClr val="6366F1"/>
                </a:solidFill>
                <a:latin typeface="Calibri" pitchFamily="34" charset="0"/>
                <a:ea typeface="Calibri" pitchFamily="34" charset="-122"/>
                <a:cs typeface="Calibri" pitchFamily="34" charset="-120"/>
              </a:rPr>
              <a:t>/api/run → NSGA-II</a:t>
            </a:r>
            <a:endParaRPr lang="en-US" sz="1050" dirty="0"/>
          </a:p>
          <a:p>
            <a:pPr algn="ctr" indent="0" marL="0">
              <a:buNone/>
            </a:pPr>
            <a:r>
              <a:rPr lang="en-US" sz="1050" b="1" dirty="0">
                <a:solidFill>
                  <a:srgbClr val="6366F1"/>
                </a:solidFill>
                <a:latin typeface="Calibri" pitchFamily="34" charset="0"/>
                <a:ea typeface="Calibri" pitchFamily="34" charset="-122"/>
                <a:cs typeface="Calibri" pitchFamily="34" charset="-120"/>
              </a:rPr>
              <a:t>(uses slider profile)</a:t>
            </a:r>
            <a:endParaRPr lang="en-US" sz="1050" dirty="0"/>
          </a:p>
        </p:txBody>
      </p:sp>
      <p:sp>
        <p:nvSpPr>
          <p:cNvPr id="30" name="Text 28"/>
          <p:cNvSpPr/>
          <p:nvPr/>
        </p:nvSpPr>
        <p:spPr>
          <a:xfrm>
            <a:off x="9592056" y="4983480"/>
            <a:ext cx="329184" cy="45720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9921240" y="4434840"/>
            <a:ext cx="1956816" cy="1554480"/>
          </a:xfrm>
          <a:prstGeom prst="roundRect">
            <a:avLst>
              <a:gd name="adj" fmla="val 5882"/>
            </a:avLst>
          </a:prstGeom>
          <a:solidFill>
            <a:srgbClr val="FFFFFF"/>
          </a:solidFill>
          <a:ln w="9525">
            <a:solidFill>
              <a:srgbClr val="CBD5E1"/>
            </a:solidFill>
            <a:prstDash val="solid"/>
          </a:ln>
        </p:spPr>
      </p:sp>
      <p:sp>
        <p:nvSpPr>
          <p:cNvPr id="32" name="Text 30"/>
          <p:cNvSpPr/>
          <p:nvPr/>
        </p:nvSpPr>
        <p:spPr>
          <a:xfrm>
            <a:off x="9976104" y="4434840"/>
            <a:ext cx="1847088" cy="155448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MOGA 3D front</a:t>
            </a:r>
            <a:endParaRPr lang="en-US" sz="1050" dirty="0"/>
          </a:p>
          <a:p>
            <a:pPr algn="ctr" indent="0" marL="0">
              <a:buNone/>
            </a:pPr>
            <a:r>
              <a:rPr lang="en-US" sz="1050" b="1" dirty="0">
                <a:solidFill>
                  <a:srgbClr val="0F172A"/>
                </a:solidFill>
                <a:latin typeface="Calibri" pitchFamily="34" charset="0"/>
                <a:ea typeface="Calibri" pitchFamily="34" charset="-122"/>
                <a:cs typeface="Calibri" pitchFamily="34" charset="-120"/>
              </a:rPr>
              <a:t>+ consensus winner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77824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Live results at a glance</a:t>
            </a:r>
            <a:endParaRPr lang="en-US" sz="3000" dirty="0"/>
          </a:p>
        </p:txBody>
      </p:sp>
      <p:sp>
        <p:nvSpPr>
          <p:cNvPr id="3" name="Shape 1"/>
          <p:cNvSpPr/>
          <p:nvPr/>
        </p:nvSpPr>
        <p:spPr>
          <a:xfrm>
            <a:off x="10972800" y="457200"/>
            <a:ext cx="827532" cy="274320"/>
          </a:xfrm>
          <a:prstGeom prst="roundRect">
            <a:avLst>
              <a:gd name="adj" fmla="val 50000"/>
            </a:avLst>
          </a:prstGeom>
          <a:solidFill>
            <a:srgbClr val="E0F2FE"/>
          </a:solidFill>
          <a:ln w="9525">
            <a:solidFill>
              <a:srgbClr val="0284C7"/>
            </a:solidFill>
            <a:prstDash val="solid"/>
          </a:ln>
        </p:spPr>
      </p:sp>
      <p:sp>
        <p:nvSpPr>
          <p:cNvPr id="4" name="Text 2"/>
          <p:cNvSpPr/>
          <p:nvPr/>
        </p:nvSpPr>
        <p:spPr>
          <a:xfrm>
            <a:off x="10972800" y="457200"/>
            <a:ext cx="827532" cy="274320"/>
          </a:xfrm>
          <a:prstGeom prst="rect">
            <a:avLst/>
          </a:prstGeom>
          <a:noFill/>
          <a:ln/>
        </p:spPr>
        <p:txBody>
          <a:bodyPr wrap="square" lIns="0" tIns="0" rIns="0" bIns="0" rtlCol="0" anchor="ctr"/>
          <a:lstStyle/>
          <a:p>
            <a:pPr algn="ctr" indent="0" marL="0">
              <a:buNone/>
            </a:pPr>
            <a:r>
              <a:rPr lang="en-US" sz="1000" b="1" spc="100" kern="0" dirty="0">
                <a:solidFill>
                  <a:srgbClr val="0284C7"/>
                </a:solidFill>
                <a:latin typeface="Calibri" pitchFamily="34" charset="0"/>
                <a:ea typeface="Calibri" pitchFamily="34" charset="-122"/>
                <a:cs typeface="Calibri" pitchFamily="34" charset="-120"/>
              </a:rPr>
              <a:t>JS · LIVE</a:t>
            </a:r>
            <a:endParaRPr lang="en-US" sz="1000" dirty="0"/>
          </a:p>
        </p:txBody>
      </p:sp>
      <p:pic>
        <p:nvPicPr>
          <p:cNvPr id="5" name="Image 0" descr="deck_assets/img_overview.png">    </p:cNvPr>
          <p:cNvPicPr>
            <a:picLocks noChangeAspect="1"/>
          </p:cNvPicPr>
          <p:nvPr/>
        </p:nvPicPr>
        <p:blipFill>
          <a:blip r:embed="rId1"/>
          <a:stretch>
            <a:fillRect/>
          </a:stretch>
        </p:blipFill>
        <p:spPr>
          <a:xfrm>
            <a:off x="1275949" y="1097280"/>
            <a:ext cx="9655342" cy="4892040"/>
          </a:xfrm>
          <a:prstGeom prst="rect">
            <a:avLst/>
          </a:prstGeom>
          <a:effectLst>
            <a:outerShdw sx="100000" sy="100000" kx="0" ky="0" algn="bl" rotWithShape="0" blurRad="127000" dist="38100" dir="5400000">
              <a:srgbClr val="94A3B8">
                <a:alpha val="35000"/>
              </a:srgbClr>
            </a:outerShdw>
          </a:effectLst>
        </p:spPr>
      </p:pic>
      <p:sp>
        <p:nvSpPr>
          <p:cNvPr id="6" name="Text 3"/>
          <p:cNvSpPr/>
          <p:nvPr/>
        </p:nvSpPr>
        <p:spPr>
          <a:xfrm>
            <a:off x="502920" y="6126480"/>
            <a:ext cx="11201400" cy="5486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KPI row = optimal strategy, protection height, visual impact, and composite score · comparison table ranks all strategies against the no-measure baseline · radar shows the three-objective footprint.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77824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Physical insight: section view &amp; sensitivity</a:t>
            </a:r>
            <a:endParaRPr lang="en-US" sz="3000" dirty="0"/>
          </a:p>
        </p:txBody>
      </p:sp>
      <p:sp>
        <p:nvSpPr>
          <p:cNvPr id="3" name="Shape 1"/>
          <p:cNvSpPr/>
          <p:nvPr/>
        </p:nvSpPr>
        <p:spPr>
          <a:xfrm>
            <a:off x="10972800" y="457200"/>
            <a:ext cx="827532" cy="274320"/>
          </a:xfrm>
          <a:prstGeom prst="roundRect">
            <a:avLst>
              <a:gd name="adj" fmla="val 50000"/>
            </a:avLst>
          </a:prstGeom>
          <a:solidFill>
            <a:srgbClr val="E0F2FE"/>
          </a:solidFill>
          <a:ln w="9525">
            <a:solidFill>
              <a:srgbClr val="0284C7"/>
            </a:solidFill>
            <a:prstDash val="solid"/>
          </a:ln>
        </p:spPr>
      </p:sp>
      <p:sp>
        <p:nvSpPr>
          <p:cNvPr id="4" name="Text 2"/>
          <p:cNvSpPr/>
          <p:nvPr/>
        </p:nvSpPr>
        <p:spPr>
          <a:xfrm>
            <a:off x="10972800" y="457200"/>
            <a:ext cx="827532" cy="274320"/>
          </a:xfrm>
          <a:prstGeom prst="rect">
            <a:avLst/>
          </a:prstGeom>
          <a:noFill/>
          <a:ln/>
        </p:spPr>
        <p:txBody>
          <a:bodyPr wrap="square" lIns="0" tIns="0" rIns="0" bIns="0" rtlCol="0" anchor="ctr"/>
          <a:lstStyle/>
          <a:p>
            <a:pPr algn="ctr" indent="0" marL="0">
              <a:buNone/>
            </a:pPr>
            <a:r>
              <a:rPr lang="en-US" sz="1000" b="1" spc="100" kern="0" dirty="0">
                <a:solidFill>
                  <a:srgbClr val="0284C7"/>
                </a:solidFill>
                <a:latin typeface="Calibri" pitchFamily="34" charset="0"/>
                <a:ea typeface="Calibri" pitchFamily="34" charset="-122"/>
                <a:cs typeface="Calibri" pitchFamily="34" charset="-120"/>
              </a:rPr>
              <a:t>JS · LIVE</a:t>
            </a:r>
            <a:endParaRPr lang="en-US" sz="1000" dirty="0"/>
          </a:p>
        </p:txBody>
      </p:sp>
      <p:pic>
        <p:nvPicPr>
          <p:cNvPr id="5" name="Image 0" descr="deck_assets/img_section_sens.png">    </p:cNvPr>
          <p:cNvPicPr>
            <a:picLocks noChangeAspect="1"/>
          </p:cNvPicPr>
          <p:nvPr/>
        </p:nvPicPr>
        <p:blipFill>
          <a:blip r:embed="rId1"/>
          <a:stretch>
            <a:fillRect/>
          </a:stretch>
        </p:blipFill>
        <p:spPr>
          <a:xfrm>
            <a:off x="502920" y="1351206"/>
            <a:ext cx="11201400" cy="3698388"/>
          </a:xfrm>
          <a:prstGeom prst="rect">
            <a:avLst/>
          </a:prstGeom>
          <a:effectLst>
            <a:outerShdw sx="100000" sy="100000" kx="0" ky="0" algn="bl" rotWithShape="0" blurRad="127000" dist="38100" dir="5400000">
              <a:srgbClr val="94A3B8">
                <a:alpha val="35000"/>
              </a:srgbClr>
            </a:outerShdw>
          </a:effectLst>
        </p:spPr>
      </p:pic>
      <p:sp>
        <p:nvSpPr>
          <p:cNvPr id="6" name="Shape 3"/>
          <p:cNvSpPr/>
          <p:nvPr/>
        </p:nvSpPr>
        <p:spPr>
          <a:xfrm>
            <a:off x="502920" y="5504688"/>
            <a:ext cx="128016" cy="128016"/>
          </a:xfrm>
          <a:prstGeom prst="ellipse">
            <a:avLst/>
          </a:prstGeom>
          <a:solidFill>
            <a:srgbClr val="0284C7"/>
          </a:solidFill>
          <a:ln/>
        </p:spPr>
      </p:sp>
      <p:sp>
        <p:nvSpPr>
          <p:cNvPr id="7" name="Text 4"/>
          <p:cNvSpPr/>
          <p:nvPr/>
        </p:nvSpPr>
        <p:spPr>
          <a:xfrm>
            <a:off x="740664" y="5394960"/>
            <a:ext cx="5120640" cy="32004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Building Section</a:t>
            </a:r>
            <a:endParaRPr lang="en-US" sz="1350" dirty="0"/>
          </a:p>
        </p:txBody>
      </p:sp>
      <p:sp>
        <p:nvSpPr>
          <p:cNvPr id="8" name="Text 5"/>
          <p:cNvSpPr/>
          <p:nvPr/>
        </p:nvSpPr>
        <p:spPr>
          <a:xfrm>
            <a:off x="740664" y="5742432"/>
            <a:ext cx="5257800" cy="7315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Draws the winning design on the building: flood line, barrier height, vents, interior leakage — including the full basement depth.</a:t>
            </a:r>
            <a:endParaRPr lang="en-US" sz="1150" dirty="0"/>
          </a:p>
        </p:txBody>
      </p:sp>
      <p:sp>
        <p:nvSpPr>
          <p:cNvPr id="9" name="Shape 6"/>
          <p:cNvSpPr/>
          <p:nvPr/>
        </p:nvSpPr>
        <p:spPr>
          <a:xfrm>
            <a:off x="6263640" y="5504688"/>
            <a:ext cx="128016" cy="128016"/>
          </a:xfrm>
          <a:prstGeom prst="ellipse">
            <a:avLst/>
          </a:prstGeom>
          <a:solidFill>
            <a:srgbClr val="059669"/>
          </a:solidFill>
          <a:ln/>
        </p:spPr>
      </p:sp>
      <p:sp>
        <p:nvSpPr>
          <p:cNvPr id="10" name="Text 7"/>
          <p:cNvSpPr/>
          <p:nvPr/>
        </p:nvSpPr>
        <p:spPr>
          <a:xfrm>
            <a:off x="6501384" y="5394960"/>
            <a:ext cx="5120640" cy="32004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Sensitivity curves</a:t>
            </a:r>
            <a:endParaRPr lang="en-US" sz="1350" dirty="0"/>
          </a:p>
        </p:txBody>
      </p:sp>
      <p:sp>
        <p:nvSpPr>
          <p:cNvPr id="11" name="Text 8"/>
          <p:cNvSpPr/>
          <p:nvPr/>
        </p:nvSpPr>
        <p:spPr>
          <a:xfrm>
            <a:off x="6501384" y="5742432"/>
            <a:ext cx="5257800" cy="73152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Best composite per strategy as flood depth sweeps 0.5–4.0 m; the dashed line marks the current slider value.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77824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The full candidate space in one picture</a:t>
            </a:r>
            <a:endParaRPr lang="en-US" sz="3000" dirty="0"/>
          </a:p>
        </p:txBody>
      </p:sp>
      <p:sp>
        <p:nvSpPr>
          <p:cNvPr id="3" name="Shape 1"/>
          <p:cNvSpPr/>
          <p:nvPr/>
        </p:nvSpPr>
        <p:spPr>
          <a:xfrm>
            <a:off x="10972800" y="457200"/>
            <a:ext cx="827532" cy="274320"/>
          </a:xfrm>
          <a:prstGeom prst="roundRect">
            <a:avLst>
              <a:gd name="adj" fmla="val 50000"/>
            </a:avLst>
          </a:prstGeom>
          <a:solidFill>
            <a:srgbClr val="E0F2FE"/>
          </a:solidFill>
          <a:ln w="9525">
            <a:solidFill>
              <a:srgbClr val="0284C7"/>
            </a:solidFill>
            <a:prstDash val="solid"/>
          </a:ln>
        </p:spPr>
      </p:sp>
      <p:sp>
        <p:nvSpPr>
          <p:cNvPr id="4" name="Text 2"/>
          <p:cNvSpPr/>
          <p:nvPr/>
        </p:nvSpPr>
        <p:spPr>
          <a:xfrm>
            <a:off x="10972800" y="457200"/>
            <a:ext cx="827532" cy="274320"/>
          </a:xfrm>
          <a:prstGeom prst="rect">
            <a:avLst/>
          </a:prstGeom>
          <a:noFill/>
          <a:ln/>
        </p:spPr>
        <p:txBody>
          <a:bodyPr wrap="square" lIns="0" tIns="0" rIns="0" bIns="0" rtlCol="0" anchor="ctr"/>
          <a:lstStyle/>
          <a:p>
            <a:pPr algn="ctr" indent="0" marL="0">
              <a:buNone/>
            </a:pPr>
            <a:r>
              <a:rPr lang="en-US" sz="1000" b="1" spc="100" kern="0" dirty="0">
                <a:solidFill>
                  <a:srgbClr val="0284C7"/>
                </a:solidFill>
                <a:latin typeface="Calibri" pitchFamily="34" charset="0"/>
                <a:ea typeface="Calibri" pitchFamily="34" charset="-122"/>
                <a:cs typeface="Calibri" pitchFamily="34" charset="-120"/>
              </a:rPr>
              <a:t>JS · LIVE</a:t>
            </a:r>
            <a:endParaRPr lang="en-US" sz="1000" dirty="0"/>
          </a:p>
        </p:txBody>
      </p:sp>
      <p:pic>
        <p:nvPicPr>
          <p:cNvPr id="5" name="Image 0" descr="deck_assets/img_parcoords.png">    </p:cNvPr>
          <p:cNvPicPr>
            <a:picLocks noChangeAspect="1"/>
          </p:cNvPicPr>
          <p:nvPr/>
        </p:nvPicPr>
        <p:blipFill>
          <a:blip r:embed="rId1"/>
          <a:stretch>
            <a:fillRect/>
          </a:stretch>
        </p:blipFill>
        <p:spPr>
          <a:xfrm>
            <a:off x="502920" y="1270832"/>
            <a:ext cx="11201400" cy="4133456"/>
          </a:xfrm>
          <a:prstGeom prst="rect">
            <a:avLst/>
          </a:prstGeom>
          <a:effectLst>
            <a:outerShdw sx="100000" sy="100000" kx="0" ky="0" algn="bl" rotWithShape="0" blurRad="127000" dist="38100" dir="5400000">
              <a:srgbClr val="94A3B8">
                <a:alpha val="35000"/>
              </a:srgbClr>
            </a:outerShdw>
          </a:effectLst>
        </p:spPr>
      </p:pic>
      <p:sp>
        <p:nvSpPr>
          <p:cNvPr id="6" name="Text 3"/>
          <p:cNvSpPr/>
          <p:nvPr/>
        </p:nvSpPr>
        <p:spPr>
          <a:xfrm>
            <a:off x="502920" y="5669280"/>
            <a:ext cx="11201400" cy="914400"/>
          </a:xfrm>
          <a:prstGeom prst="rect">
            <a:avLst/>
          </a:prstGeom>
          <a:noFill/>
          <a:ln/>
        </p:spPr>
        <p:txBody>
          <a:bodyPr wrap="square" lIns="0" tIns="0" rIns="0" bIns="0" rtlCol="0" anchor="ctr"/>
          <a:lstStyle/>
          <a:p>
            <a:pPr indent="0" marL="0">
              <a:spcAft>
                <a:spcPts val="600"/>
              </a:spcAft>
              <a:buNone/>
            </a:pPr>
            <a:r>
              <a:rPr lang="en-US" sz="1200" dirty="0">
                <a:solidFill>
                  <a:srgbClr val="475569"/>
                </a:solidFill>
                <a:latin typeface="Calibri" pitchFamily="34" charset="0"/>
                <a:ea typeface="Calibri" pitchFamily="34" charset="-122"/>
                <a:cs typeface="Calibri" pitchFamily="34" charset="-120"/>
              </a:rPr>
              <a:t>Each faint line is one of the 495 candidates across Structural, Preservation, and Utility; bold lines are the best design per strategy and the dark-outlined dots mark the overall winner.</a:t>
            </a:r>
            <a:endParaRPr lang="en-US" sz="1200" dirty="0"/>
          </a:p>
          <a:p>
            <a:pPr indent="0" marL="0">
              <a:spcAft>
                <a:spcPts val="600"/>
              </a:spcAft>
              <a:buNone/>
            </a:pPr>
            <a:r>
              <a:rPr lang="en-US" sz="1200" dirty="0">
                <a:solidFill>
                  <a:srgbClr val="475569"/>
                </a:solidFill>
                <a:latin typeface="Calibri" pitchFamily="34" charset="0"/>
                <a:ea typeface="Calibri" pitchFamily="34" charset="-122"/>
                <a:cs typeface="Calibri" pitchFamily="34" charset="-120"/>
              </a:rPr>
              <a:t>The trade-off is legible: S2 (green) tops Structural but collapses on Utility; S0 (red) is dominated almost everywhere — the visual version of the Pareto argument.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77824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Pareto fronts in 3D: MOGA vs live surrogate</a:t>
            </a:r>
            <a:endParaRPr lang="en-US" sz="3000" dirty="0"/>
          </a:p>
        </p:txBody>
      </p:sp>
      <p:sp>
        <p:nvSpPr>
          <p:cNvPr id="3" name="Shape 1"/>
          <p:cNvSpPr/>
          <p:nvPr/>
        </p:nvSpPr>
        <p:spPr>
          <a:xfrm>
            <a:off x="9692640" y="457200"/>
            <a:ext cx="827532" cy="274320"/>
          </a:xfrm>
          <a:prstGeom prst="roundRect">
            <a:avLst>
              <a:gd name="adj" fmla="val 50000"/>
            </a:avLst>
          </a:prstGeom>
          <a:solidFill>
            <a:srgbClr val="E0F2FE"/>
          </a:solidFill>
          <a:ln w="9525">
            <a:solidFill>
              <a:srgbClr val="0284C7"/>
            </a:solidFill>
            <a:prstDash val="solid"/>
          </a:ln>
        </p:spPr>
      </p:sp>
      <p:sp>
        <p:nvSpPr>
          <p:cNvPr id="4" name="Text 2"/>
          <p:cNvSpPr/>
          <p:nvPr/>
        </p:nvSpPr>
        <p:spPr>
          <a:xfrm>
            <a:off x="9692640" y="457200"/>
            <a:ext cx="827532" cy="274320"/>
          </a:xfrm>
          <a:prstGeom prst="rect">
            <a:avLst/>
          </a:prstGeom>
          <a:noFill/>
          <a:ln/>
        </p:spPr>
        <p:txBody>
          <a:bodyPr wrap="square" lIns="0" tIns="0" rIns="0" bIns="0" rtlCol="0" anchor="ctr"/>
          <a:lstStyle/>
          <a:p>
            <a:pPr algn="ctr" indent="0" marL="0">
              <a:buNone/>
            </a:pPr>
            <a:r>
              <a:rPr lang="en-US" sz="1000" b="1" spc="100" kern="0" dirty="0">
                <a:solidFill>
                  <a:srgbClr val="0284C7"/>
                </a:solidFill>
                <a:latin typeface="Calibri" pitchFamily="34" charset="0"/>
                <a:ea typeface="Calibri" pitchFamily="34" charset="-122"/>
                <a:cs typeface="Calibri" pitchFamily="34" charset="-120"/>
              </a:rPr>
              <a:t>JS · LIVE</a:t>
            </a:r>
            <a:endParaRPr lang="en-US" sz="1000" dirty="0"/>
          </a:p>
        </p:txBody>
      </p:sp>
      <p:sp>
        <p:nvSpPr>
          <p:cNvPr id="5" name="Shape 3"/>
          <p:cNvSpPr/>
          <p:nvPr/>
        </p:nvSpPr>
        <p:spPr>
          <a:xfrm>
            <a:off x="10607040" y="457200"/>
            <a:ext cx="1138428" cy="274320"/>
          </a:xfrm>
          <a:prstGeom prst="roundRect">
            <a:avLst>
              <a:gd name="adj" fmla="val 50000"/>
            </a:avLst>
          </a:prstGeom>
          <a:solidFill>
            <a:srgbClr val="E0E7FF"/>
          </a:solidFill>
          <a:ln w="9525">
            <a:solidFill>
              <a:srgbClr val="6366F1"/>
            </a:solidFill>
            <a:prstDash val="solid"/>
          </a:ln>
        </p:spPr>
      </p:sp>
      <p:sp>
        <p:nvSpPr>
          <p:cNvPr id="6" name="Text 4"/>
          <p:cNvSpPr/>
          <p:nvPr/>
        </p:nvSpPr>
        <p:spPr>
          <a:xfrm>
            <a:off x="10607040" y="457200"/>
            <a:ext cx="1138428" cy="274320"/>
          </a:xfrm>
          <a:prstGeom prst="rect">
            <a:avLst/>
          </a:prstGeom>
          <a:noFill/>
          <a:ln/>
        </p:spPr>
        <p:txBody>
          <a:bodyPr wrap="square" lIns="0" tIns="0" rIns="0" bIns="0" rtlCol="0" anchor="ctr"/>
          <a:lstStyle/>
          <a:p>
            <a:pPr algn="ctr" indent="0" marL="0">
              <a:buNone/>
            </a:pPr>
            <a:r>
              <a:rPr lang="en-US" sz="1000" b="1" spc="100" kern="0" dirty="0">
                <a:solidFill>
                  <a:srgbClr val="6366F1"/>
                </a:solidFill>
                <a:latin typeface="Calibri" pitchFamily="34" charset="0"/>
                <a:ea typeface="Calibri" pitchFamily="34" charset="-122"/>
                <a:cs typeface="Calibri" pitchFamily="34" charset="-120"/>
              </a:rPr>
              <a:t>MOGA · PYTHON</a:t>
            </a:r>
            <a:endParaRPr lang="en-US" sz="1000" dirty="0"/>
          </a:p>
        </p:txBody>
      </p:sp>
      <p:pic>
        <p:nvPicPr>
          <p:cNvPr id="7" name="Image 0" descr="deck_assets/img_3dpair.png">    </p:cNvPr>
          <p:cNvPicPr>
            <a:picLocks noChangeAspect="1"/>
          </p:cNvPicPr>
          <p:nvPr/>
        </p:nvPicPr>
        <p:blipFill>
          <a:blip r:embed="rId1"/>
          <a:stretch>
            <a:fillRect/>
          </a:stretch>
        </p:blipFill>
        <p:spPr>
          <a:xfrm>
            <a:off x="1019485" y="1097280"/>
            <a:ext cx="10168270" cy="4343400"/>
          </a:xfrm>
          <a:prstGeom prst="rect">
            <a:avLst/>
          </a:prstGeom>
          <a:effectLst>
            <a:outerShdw sx="100000" sy="100000" kx="0" ky="0" algn="bl" rotWithShape="0" blurRad="127000" dist="38100" dir="5400000">
              <a:srgbClr val="94A3B8">
                <a:alpha val="35000"/>
              </a:srgbClr>
            </a:outerShdw>
          </a:effectLst>
        </p:spPr>
      </p:pic>
      <p:sp>
        <p:nvSpPr>
          <p:cNvPr id="8" name="Text 5"/>
          <p:cNvSpPr/>
          <p:nvPr/>
        </p:nvSpPr>
        <p:spPr>
          <a:xfrm>
            <a:off x="502920" y="5532120"/>
            <a:ext cx="11201400" cy="1005840"/>
          </a:xfrm>
          <a:prstGeom prst="rect">
            <a:avLst/>
          </a:prstGeom>
          <a:noFill/>
          <a:ln/>
        </p:spPr>
        <p:txBody>
          <a:bodyPr wrap="square" lIns="0" tIns="0" rIns="0" bIns="0" rtlCol="0" anchor="ctr"/>
          <a:lstStyle/>
          <a:p>
            <a:pPr indent="0" marL="0">
              <a:spcAft>
                <a:spcPts val="600"/>
              </a:spcAft>
              <a:buNone/>
            </a:pPr>
            <a:r>
              <a:rPr lang="en-US" sz="1200" dirty="0">
                <a:solidFill>
                  <a:srgbClr val="475569"/>
                </a:solidFill>
                <a:latin typeface="Calibri" pitchFamily="34" charset="0"/>
                <a:ea typeface="Calibri" pitchFamily="34" charset="-122"/>
                <a:cs typeface="Calibri" pitchFamily="34" charset="-120"/>
              </a:rPr>
              <a:t>Left — 999 Pareto-front points from the embedded NSGA-II run (20 seeds × 300 generations); the gold star is the consensus winner: S1, PH 0.73 m, objectives (50, 79, 47).</a:t>
            </a:r>
            <a:endParaRPr lang="en-US" sz="1200" dirty="0"/>
          </a:p>
          <a:p>
            <a:pPr indent="0" marL="0">
              <a:spcAft>
                <a:spcPts val="600"/>
              </a:spcAft>
              <a:buNone/>
            </a:pPr>
            <a:r>
              <a:rPr lang="en-US" sz="1200" dirty="0">
                <a:solidFill>
                  <a:srgbClr val="475569"/>
                </a:solidFill>
                <a:latin typeface="Calibri" pitchFamily="34" charset="0"/>
                <a:ea typeface="Calibri" pitchFamily="34" charset="-122"/>
                <a:cs typeface="Calibri" pitchFamily="34" charset="-120"/>
              </a:rPr>
              <a:t>Right — the live JS projection of all 495 grid candidates under the current sliders. The two engines agree on the winning region — a built-in cross-validation shown side by side.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77824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Pairwise Pareto projections</a:t>
            </a:r>
            <a:endParaRPr lang="en-US" sz="3000" dirty="0"/>
          </a:p>
        </p:txBody>
      </p:sp>
      <p:sp>
        <p:nvSpPr>
          <p:cNvPr id="3" name="Shape 1"/>
          <p:cNvSpPr/>
          <p:nvPr/>
        </p:nvSpPr>
        <p:spPr>
          <a:xfrm>
            <a:off x="10607040" y="457200"/>
            <a:ext cx="1138428" cy="274320"/>
          </a:xfrm>
          <a:prstGeom prst="roundRect">
            <a:avLst>
              <a:gd name="adj" fmla="val 50000"/>
            </a:avLst>
          </a:prstGeom>
          <a:solidFill>
            <a:srgbClr val="E0E7FF"/>
          </a:solidFill>
          <a:ln w="9525">
            <a:solidFill>
              <a:srgbClr val="6366F1"/>
            </a:solidFill>
            <a:prstDash val="solid"/>
          </a:ln>
        </p:spPr>
      </p:sp>
      <p:sp>
        <p:nvSpPr>
          <p:cNvPr id="4" name="Text 2"/>
          <p:cNvSpPr/>
          <p:nvPr/>
        </p:nvSpPr>
        <p:spPr>
          <a:xfrm>
            <a:off x="10607040" y="457200"/>
            <a:ext cx="1138428" cy="274320"/>
          </a:xfrm>
          <a:prstGeom prst="rect">
            <a:avLst/>
          </a:prstGeom>
          <a:noFill/>
          <a:ln/>
        </p:spPr>
        <p:txBody>
          <a:bodyPr wrap="square" lIns="0" tIns="0" rIns="0" bIns="0" rtlCol="0" anchor="ctr"/>
          <a:lstStyle/>
          <a:p>
            <a:pPr algn="ctr" indent="0" marL="0">
              <a:buNone/>
            </a:pPr>
            <a:r>
              <a:rPr lang="en-US" sz="1000" b="1" spc="100" kern="0" dirty="0">
                <a:solidFill>
                  <a:srgbClr val="6366F1"/>
                </a:solidFill>
                <a:latin typeface="Calibri" pitchFamily="34" charset="0"/>
                <a:ea typeface="Calibri" pitchFamily="34" charset="-122"/>
                <a:cs typeface="Calibri" pitchFamily="34" charset="-120"/>
              </a:rPr>
              <a:t>MOGA · PYTHON</a:t>
            </a:r>
            <a:endParaRPr lang="en-US" sz="1000" dirty="0"/>
          </a:p>
        </p:txBody>
      </p:sp>
      <p:pic>
        <p:nvPicPr>
          <p:cNvPr id="5" name="Image 0" descr="deck_assets/img_pairwise.png">    </p:cNvPr>
          <p:cNvPicPr>
            <a:picLocks noChangeAspect="1"/>
          </p:cNvPicPr>
          <p:nvPr/>
        </p:nvPicPr>
        <p:blipFill>
          <a:blip r:embed="rId1"/>
          <a:stretch>
            <a:fillRect/>
          </a:stretch>
        </p:blipFill>
        <p:spPr>
          <a:xfrm>
            <a:off x="502920" y="1396711"/>
            <a:ext cx="11201400" cy="3241617"/>
          </a:xfrm>
          <a:prstGeom prst="rect">
            <a:avLst/>
          </a:prstGeom>
          <a:effectLst>
            <a:outerShdw sx="100000" sy="100000" kx="0" ky="0" algn="bl" rotWithShape="0" blurRad="127000" dist="38100" dir="5400000">
              <a:srgbClr val="94A3B8">
                <a:alpha val="35000"/>
              </a:srgbClr>
            </a:outerShdw>
          </a:effectLst>
        </p:spPr>
      </p:pic>
      <p:sp>
        <p:nvSpPr>
          <p:cNvPr id="6" name="Text 3"/>
          <p:cNvSpPr/>
          <p:nvPr/>
        </p:nvSpPr>
        <p:spPr>
          <a:xfrm>
            <a:off x="685800" y="5029200"/>
            <a:ext cx="10881360" cy="13716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475569"/>
                </a:solidFill>
                <a:latin typeface="Calibri" pitchFamily="34" charset="0"/>
                <a:ea typeface="Calibri" pitchFamily="34" charset="-122"/>
                <a:cs typeface="Calibri" pitchFamily="34" charset="-120"/>
              </a:rPr>
              <a:t>Each panel projects the 999-point Pareto cloud onto a pair of objectives; the gold star marks the consensus winner with its coordinates.</a:t>
            </a:r>
            <a:endParaRPr lang="en-US" sz="1250" dirty="0"/>
          </a:p>
          <a:p>
            <a:pPr marL="342900" indent="-342900">
              <a:spcAft>
                <a:spcPts val="600"/>
              </a:spcAft>
              <a:buSzPct val="100000"/>
              <a:buChar char="•"/>
            </a:pPr>
            <a:r>
              <a:rPr lang="en-US" sz="1250" dirty="0">
                <a:solidFill>
                  <a:srgbClr val="475569"/>
                </a:solidFill>
                <a:latin typeface="Calibri" pitchFamily="34" charset="0"/>
                <a:ea typeface="Calibri" pitchFamily="34" charset="-122"/>
                <a:cs typeface="Calibri" pitchFamily="34" charset="-120"/>
              </a:rPr>
              <a:t>Structural vs Utility shows the sharpest trade-off frontier — safety is bought with usability.</a:t>
            </a:r>
            <a:endParaRPr lang="en-US" sz="1250" dirty="0"/>
          </a:p>
          <a:p>
            <a:pPr marL="342900" indent="-342900">
              <a:spcAft>
                <a:spcPts val="600"/>
              </a:spcAft>
              <a:buSzPct val="100000"/>
              <a:buChar char="•"/>
            </a:pPr>
            <a:r>
              <a:rPr lang="en-US" sz="1250" dirty="0">
                <a:solidFill>
                  <a:srgbClr val="475569"/>
                </a:solidFill>
                <a:latin typeface="Calibri" pitchFamily="34" charset="0"/>
                <a:ea typeface="Calibri" pitchFamily="34" charset="-122"/>
                <a:cs typeface="Calibri" pitchFamily="34" charset="-120"/>
              </a:rPr>
              <a:t>S0 (sealant) contributes almost no points to the front: it is dominated, echoing NPS Standard 9 concerns about irreversible moisture damage.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778240" cy="68580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Guardrail behavior under extreme scenarios</a:t>
            </a:r>
            <a:endParaRPr lang="en-US" sz="3000" dirty="0"/>
          </a:p>
        </p:txBody>
      </p:sp>
      <p:sp>
        <p:nvSpPr>
          <p:cNvPr id="3" name="Shape 1"/>
          <p:cNvSpPr/>
          <p:nvPr/>
        </p:nvSpPr>
        <p:spPr>
          <a:xfrm>
            <a:off x="10972800" y="457200"/>
            <a:ext cx="827532" cy="274320"/>
          </a:xfrm>
          <a:prstGeom prst="roundRect">
            <a:avLst>
              <a:gd name="adj" fmla="val 50000"/>
            </a:avLst>
          </a:prstGeom>
          <a:solidFill>
            <a:srgbClr val="E0F2FE"/>
          </a:solidFill>
          <a:ln w="9525">
            <a:solidFill>
              <a:srgbClr val="0284C7"/>
            </a:solidFill>
            <a:prstDash val="solid"/>
          </a:ln>
        </p:spPr>
      </p:sp>
      <p:sp>
        <p:nvSpPr>
          <p:cNvPr id="4" name="Text 2"/>
          <p:cNvSpPr/>
          <p:nvPr/>
        </p:nvSpPr>
        <p:spPr>
          <a:xfrm>
            <a:off x="10972800" y="457200"/>
            <a:ext cx="827532" cy="274320"/>
          </a:xfrm>
          <a:prstGeom prst="rect">
            <a:avLst/>
          </a:prstGeom>
          <a:noFill/>
          <a:ln/>
        </p:spPr>
        <p:txBody>
          <a:bodyPr wrap="square" lIns="0" tIns="0" rIns="0" bIns="0" rtlCol="0" anchor="ctr"/>
          <a:lstStyle/>
          <a:p>
            <a:pPr algn="ctr" indent="0" marL="0">
              <a:buNone/>
            </a:pPr>
            <a:r>
              <a:rPr lang="en-US" sz="1000" b="1" spc="100" kern="0" dirty="0">
                <a:solidFill>
                  <a:srgbClr val="0284C7"/>
                </a:solidFill>
                <a:latin typeface="Calibri" pitchFamily="34" charset="0"/>
                <a:ea typeface="Calibri" pitchFamily="34" charset="-122"/>
                <a:cs typeface="Calibri" pitchFamily="34" charset="-120"/>
              </a:rPr>
              <a:t>JS · LIVE</a:t>
            </a:r>
            <a:endParaRPr lang="en-US" sz="1000" dirty="0"/>
          </a:p>
        </p:txBody>
      </p:sp>
      <p:pic>
        <p:nvPicPr>
          <p:cNvPr id="5" name="Image 0" descr="deck_assets/img_extreme.png">    </p:cNvPr>
          <p:cNvPicPr>
            <a:picLocks noChangeAspect="1"/>
          </p:cNvPicPr>
          <p:nvPr/>
        </p:nvPicPr>
        <p:blipFill>
          <a:blip r:embed="rId1"/>
          <a:stretch>
            <a:fillRect/>
          </a:stretch>
        </p:blipFill>
        <p:spPr>
          <a:xfrm>
            <a:off x="502920" y="1591056"/>
            <a:ext cx="7040880" cy="4224528"/>
          </a:xfrm>
          <a:prstGeom prst="rect">
            <a:avLst/>
          </a:prstGeom>
          <a:effectLst>
            <a:outerShdw sx="100000" sy="100000" kx="0" ky="0" algn="bl" rotWithShape="0" blurRad="127000" dist="38100" dir="5400000">
              <a:srgbClr val="94A3B8">
                <a:alpha val="35000"/>
              </a:srgbClr>
            </a:outerShdw>
          </a:effectLst>
        </p:spPr>
      </p:pic>
      <p:sp>
        <p:nvSpPr>
          <p:cNvPr id="6" name="Shape 3"/>
          <p:cNvSpPr/>
          <p:nvPr/>
        </p:nvSpPr>
        <p:spPr>
          <a:xfrm>
            <a:off x="7772400" y="1097280"/>
            <a:ext cx="3977640" cy="5212080"/>
          </a:xfrm>
          <a:prstGeom prst="roundRect">
            <a:avLst>
              <a:gd name="adj" fmla="val 2759"/>
            </a:avLst>
          </a:prstGeom>
          <a:solidFill>
            <a:srgbClr val="FEF2F2"/>
          </a:solidFill>
          <a:ln w="12700">
            <a:solidFill>
              <a:srgbClr val="FECACA"/>
            </a:solidFill>
            <a:prstDash val="solid"/>
          </a:ln>
        </p:spPr>
      </p:sp>
      <p:sp>
        <p:nvSpPr>
          <p:cNvPr id="7" name="Text 4"/>
          <p:cNvSpPr/>
          <p:nvPr/>
        </p:nvSpPr>
        <p:spPr>
          <a:xfrm>
            <a:off x="8001000" y="1325880"/>
            <a:ext cx="3566160" cy="685800"/>
          </a:xfrm>
          <a:prstGeom prst="rect">
            <a:avLst/>
          </a:prstGeom>
          <a:noFill/>
          <a:ln/>
        </p:spPr>
        <p:txBody>
          <a:bodyPr wrap="square" lIns="0" tIns="0" rIns="0" bIns="0"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Flood depth 4.0 m · shear capacity 20 kN · overtopping 0.70</a:t>
            </a:r>
            <a:endParaRPr lang="en-US" sz="1300" dirty="0"/>
          </a:p>
        </p:txBody>
      </p:sp>
      <p:sp>
        <p:nvSpPr>
          <p:cNvPr id="8" name="Text 5"/>
          <p:cNvSpPr/>
          <p:nvPr/>
        </p:nvSpPr>
        <p:spPr>
          <a:xfrm>
            <a:off x="8001000" y="2103120"/>
            <a:ext cx="3566160" cy="3291840"/>
          </a:xfrm>
          <a:prstGeom prst="rect">
            <a:avLst/>
          </a:prstGeom>
          <a:noFill/>
          <a:ln/>
        </p:spPr>
        <p:txBody>
          <a:bodyPr wrap="square" lIns="0" tIns="0" rIns="0" bIns="0" rtlCol="0" anchor="ctr"/>
          <a:lstStyle/>
          <a:p>
            <a:pPr indent="0" marL="0">
              <a:spcAft>
                <a:spcPts val="800"/>
              </a:spcAft>
              <a:buNone/>
            </a:pPr>
            <a:r>
              <a:rPr lang="en-US" sz="1150" dirty="0">
                <a:solidFill>
                  <a:srgbClr val="475569"/>
                </a:solidFill>
                <a:latin typeface="Calibri" pitchFamily="34" charset="0"/>
                <a:ea typeface="Calibri" pitchFamily="34" charset="-122"/>
                <a:cs typeface="Calibri" pitchFamily="34" charset="-120"/>
              </a:rPr>
              <a:t>Under this extreme, every dry-floodproofing design fails: at any barrier height, the retained + leaked hydrostatic load exceeds the weak wall’s capacity, so Structural = 0 for S0 and S1 across all 330 dry candidates.</a:t>
            </a:r>
            <a:endParaRPr lang="en-US" sz="1150" dirty="0"/>
          </a:p>
          <a:p>
            <a:pPr indent="0" marL="0">
              <a:spcAft>
                <a:spcPts val="800"/>
              </a:spcAft>
              <a:buNone/>
            </a:pPr>
            <a:r>
              <a:rPr lang="en-US" sz="1150" dirty="0">
                <a:solidFill>
                  <a:srgbClr val="475569"/>
                </a:solidFill>
                <a:latin typeface="Calibri" pitchFamily="34" charset="0"/>
                <a:ea typeface="Calibri" pitchFamily="34" charset="-122"/>
                <a:cs typeface="Calibri" pitchFamily="34" charset="-120"/>
              </a:rPr>
              <a:t>The optimizer therefore recommends S2 — hydrostatic vents: by equalizing pressure instead of resisting it, S2 keeps Structural at 96.9 and wins the composite.</a:t>
            </a:r>
            <a:endParaRPr lang="en-US" sz="1150" dirty="0"/>
          </a:p>
          <a:p>
            <a:pPr indent="0" marL="0">
              <a:spcAft>
                <a:spcPts val="800"/>
              </a:spcAft>
              <a:buNone/>
            </a:pPr>
            <a:r>
              <a:rPr lang="en-US" sz="1150" dirty="0">
                <a:solidFill>
                  <a:srgbClr val="475569"/>
                </a:solidFill>
                <a:latin typeface="Calibri" pitchFamily="34" charset="0"/>
                <a:ea typeface="Calibri" pitchFamily="34" charset="-122"/>
                <a:cs typeface="Calibri" pitchFamily="34" charset="-120"/>
              </a:rPr>
              <a:t>Before abandoning barriers entirely, the engine first shrinks them: at milder extremes the optimal PH collapses toward 0 m — a tall barrier is never chosen when it would break the wall.</a:t>
            </a:r>
            <a:endParaRPr lang="en-US" sz="1150" dirty="0"/>
          </a:p>
        </p:txBody>
      </p:sp>
      <p:sp>
        <p:nvSpPr>
          <p:cNvPr id="9" name="Shape 6"/>
          <p:cNvSpPr/>
          <p:nvPr/>
        </p:nvSpPr>
        <p:spPr>
          <a:xfrm>
            <a:off x="8001000" y="5486400"/>
            <a:ext cx="3520440" cy="640080"/>
          </a:xfrm>
          <a:prstGeom prst="roundRect">
            <a:avLst>
              <a:gd name="adj" fmla="val 14286"/>
            </a:avLst>
          </a:prstGeom>
          <a:solidFill>
            <a:srgbClr val="DCFCE7"/>
          </a:solidFill>
          <a:ln/>
        </p:spPr>
      </p:sp>
      <p:sp>
        <p:nvSpPr>
          <p:cNvPr id="10" name="Text 7"/>
          <p:cNvSpPr/>
          <p:nvPr/>
        </p:nvSpPr>
        <p:spPr>
          <a:xfrm>
            <a:off x="8138160" y="5532120"/>
            <a:ext cx="3291840" cy="566928"/>
          </a:xfrm>
          <a:prstGeom prst="rect">
            <a:avLst/>
          </a:prstGeom>
          <a:noFill/>
          <a:ln/>
        </p:spPr>
        <p:txBody>
          <a:bodyPr wrap="square" lIns="0" tIns="0" rIns="0" bIns="0" rtlCol="0" anchor="ctr"/>
          <a:lstStyle/>
          <a:p>
            <a:pPr indent="0" marL="0">
              <a:buNone/>
            </a:pPr>
            <a:r>
              <a:rPr lang="en-US" sz="1050" b="1" dirty="0">
                <a:solidFill>
                  <a:srgbClr val="166534"/>
                </a:solidFill>
                <a:latin typeface="Calibri" pitchFamily="34" charset="0"/>
                <a:ea typeface="Calibri" pitchFamily="34" charset="-122"/>
                <a:cs typeface="Calibri" pitchFamily="34" charset="-120"/>
              </a:rPr>
              <a:t>Physically consistent: the model refuses designs that would cause structural failure.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822960" y="50292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Takeaways</a:t>
            </a:r>
            <a:endParaRPr lang="en-US" sz="3200" dirty="0"/>
          </a:p>
        </p:txBody>
      </p:sp>
      <p:sp>
        <p:nvSpPr>
          <p:cNvPr id="3" name="Shape 1"/>
          <p:cNvSpPr/>
          <p:nvPr/>
        </p:nvSpPr>
        <p:spPr>
          <a:xfrm>
            <a:off x="822960" y="1417320"/>
            <a:ext cx="5120640" cy="1371600"/>
          </a:xfrm>
          <a:prstGeom prst="roundRect">
            <a:avLst>
              <a:gd name="adj" fmla="val 8000"/>
            </a:avLst>
          </a:prstGeom>
          <a:solidFill>
            <a:srgbClr val="111827"/>
          </a:solidFill>
          <a:ln w="12700">
            <a:solidFill>
              <a:srgbClr val="1F2937"/>
            </a:solidFill>
            <a:prstDash val="solid"/>
          </a:ln>
        </p:spPr>
      </p:sp>
      <p:sp>
        <p:nvSpPr>
          <p:cNvPr id="4" name="Shape 2"/>
          <p:cNvSpPr/>
          <p:nvPr/>
        </p:nvSpPr>
        <p:spPr>
          <a:xfrm>
            <a:off x="1051560" y="1673352"/>
            <a:ext cx="146304" cy="146304"/>
          </a:xfrm>
          <a:prstGeom prst="ellipse">
            <a:avLst/>
          </a:prstGeom>
          <a:solidFill>
            <a:srgbClr val="38BDF8"/>
          </a:solidFill>
          <a:ln/>
        </p:spPr>
      </p:sp>
      <p:sp>
        <p:nvSpPr>
          <p:cNvPr id="5" name="Text 3"/>
          <p:cNvSpPr/>
          <p:nvPr/>
        </p:nvSpPr>
        <p:spPr>
          <a:xfrm>
            <a:off x="1325880" y="1545336"/>
            <a:ext cx="4480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Design condition → S1</a:t>
            </a:r>
            <a:endParaRPr lang="en-US" sz="1500" dirty="0"/>
          </a:p>
        </p:txBody>
      </p:sp>
      <p:sp>
        <p:nvSpPr>
          <p:cNvPr id="6" name="Text 4"/>
          <p:cNvSpPr/>
          <p:nvPr/>
        </p:nvSpPr>
        <p:spPr>
          <a:xfrm>
            <a:off x="1325880" y="1920240"/>
            <a:ext cx="4434840" cy="7772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Removable barrier, PH 0.73 m, VIF 0.55 — objectives (50, 79, 47); reversible and NPS-compatible.</a:t>
            </a:r>
            <a:endParaRPr lang="en-US" sz="1150" dirty="0"/>
          </a:p>
        </p:txBody>
      </p:sp>
      <p:sp>
        <p:nvSpPr>
          <p:cNvPr id="7" name="Shape 5"/>
          <p:cNvSpPr/>
          <p:nvPr/>
        </p:nvSpPr>
        <p:spPr>
          <a:xfrm>
            <a:off x="6309360" y="1417320"/>
            <a:ext cx="5120640" cy="1371600"/>
          </a:xfrm>
          <a:prstGeom prst="roundRect">
            <a:avLst>
              <a:gd name="adj" fmla="val 8000"/>
            </a:avLst>
          </a:prstGeom>
          <a:solidFill>
            <a:srgbClr val="111827"/>
          </a:solidFill>
          <a:ln w="12700">
            <a:solidFill>
              <a:srgbClr val="1F2937"/>
            </a:solidFill>
            <a:prstDash val="solid"/>
          </a:ln>
        </p:spPr>
      </p:sp>
      <p:sp>
        <p:nvSpPr>
          <p:cNvPr id="8" name="Shape 6"/>
          <p:cNvSpPr/>
          <p:nvPr/>
        </p:nvSpPr>
        <p:spPr>
          <a:xfrm>
            <a:off x="6537960" y="1673352"/>
            <a:ext cx="146304" cy="146304"/>
          </a:xfrm>
          <a:prstGeom prst="ellipse">
            <a:avLst/>
          </a:prstGeom>
          <a:solidFill>
            <a:srgbClr val="34D399"/>
          </a:solidFill>
          <a:ln/>
        </p:spPr>
      </p:sp>
      <p:sp>
        <p:nvSpPr>
          <p:cNvPr id="9" name="Text 7"/>
          <p:cNvSpPr/>
          <p:nvPr/>
        </p:nvSpPr>
        <p:spPr>
          <a:xfrm>
            <a:off x="6812280" y="1545336"/>
            <a:ext cx="4480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Extremes → S2</a:t>
            </a:r>
            <a:endParaRPr lang="en-US" sz="1500" dirty="0"/>
          </a:p>
        </p:txBody>
      </p:sp>
      <p:sp>
        <p:nvSpPr>
          <p:cNvPr id="10" name="Text 8"/>
          <p:cNvSpPr/>
          <p:nvPr/>
        </p:nvSpPr>
        <p:spPr>
          <a:xfrm>
            <a:off x="6812280" y="1920240"/>
            <a:ext cx="4434840" cy="7772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When barriers would break the wall, the optimizer switches to hydrostatic vents — pressure equalization over resistance.</a:t>
            </a:r>
            <a:endParaRPr lang="en-US" sz="1150" dirty="0"/>
          </a:p>
        </p:txBody>
      </p:sp>
      <p:sp>
        <p:nvSpPr>
          <p:cNvPr id="11" name="Shape 9"/>
          <p:cNvSpPr/>
          <p:nvPr/>
        </p:nvSpPr>
        <p:spPr>
          <a:xfrm>
            <a:off x="822960" y="3017520"/>
            <a:ext cx="5120640" cy="1371600"/>
          </a:xfrm>
          <a:prstGeom prst="roundRect">
            <a:avLst>
              <a:gd name="adj" fmla="val 8000"/>
            </a:avLst>
          </a:prstGeom>
          <a:solidFill>
            <a:srgbClr val="111827"/>
          </a:solidFill>
          <a:ln w="12700">
            <a:solidFill>
              <a:srgbClr val="1F2937"/>
            </a:solidFill>
            <a:prstDash val="solid"/>
          </a:ln>
        </p:spPr>
      </p:sp>
      <p:sp>
        <p:nvSpPr>
          <p:cNvPr id="12" name="Shape 10"/>
          <p:cNvSpPr/>
          <p:nvPr/>
        </p:nvSpPr>
        <p:spPr>
          <a:xfrm>
            <a:off x="1051560" y="3273552"/>
            <a:ext cx="146304" cy="146304"/>
          </a:xfrm>
          <a:prstGeom prst="ellipse">
            <a:avLst/>
          </a:prstGeom>
          <a:solidFill>
            <a:srgbClr val="F87171"/>
          </a:solidFill>
          <a:ln/>
        </p:spPr>
      </p:sp>
      <p:sp>
        <p:nvSpPr>
          <p:cNvPr id="13" name="Text 11"/>
          <p:cNvSpPr/>
          <p:nvPr/>
        </p:nvSpPr>
        <p:spPr>
          <a:xfrm>
            <a:off x="1325880" y="3145536"/>
            <a:ext cx="4480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S0 is dominated</a:t>
            </a:r>
            <a:endParaRPr lang="en-US" sz="1500" dirty="0"/>
          </a:p>
        </p:txBody>
      </p:sp>
      <p:sp>
        <p:nvSpPr>
          <p:cNvPr id="14" name="Text 12"/>
          <p:cNvSpPr/>
          <p:nvPr/>
        </p:nvSpPr>
        <p:spPr>
          <a:xfrm>
            <a:off x="1325880" y="3520440"/>
            <a:ext cx="4434840" cy="7772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Sealant/coating almost never reaches the Pareto front: irreversibility and moisture entrapment cost too much.</a:t>
            </a:r>
            <a:endParaRPr lang="en-US" sz="1150" dirty="0"/>
          </a:p>
        </p:txBody>
      </p:sp>
      <p:sp>
        <p:nvSpPr>
          <p:cNvPr id="15" name="Shape 13"/>
          <p:cNvSpPr/>
          <p:nvPr/>
        </p:nvSpPr>
        <p:spPr>
          <a:xfrm>
            <a:off x="6309360" y="3017520"/>
            <a:ext cx="5120640" cy="1371600"/>
          </a:xfrm>
          <a:prstGeom prst="roundRect">
            <a:avLst>
              <a:gd name="adj" fmla="val 8000"/>
            </a:avLst>
          </a:prstGeom>
          <a:solidFill>
            <a:srgbClr val="111827"/>
          </a:solidFill>
          <a:ln w="12700">
            <a:solidFill>
              <a:srgbClr val="1F2937"/>
            </a:solidFill>
            <a:prstDash val="solid"/>
          </a:ln>
        </p:spPr>
      </p:sp>
      <p:sp>
        <p:nvSpPr>
          <p:cNvPr id="16" name="Shape 14"/>
          <p:cNvSpPr/>
          <p:nvPr/>
        </p:nvSpPr>
        <p:spPr>
          <a:xfrm>
            <a:off x="6537960" y="3273552"/>
            <a:ext cx="146304" cy="146304"/>
          </a:xfrm>
          <a:prstGeom prst="ellipse">
            <a:avLst/>
          </a:prstGeom>
          <a:solidFill>
            <a:srgbClr val="A5B4FC"/>
          </a:solidFill>
          <a:ln/>
        </p:spPr>
      </p:sp>
      <p:sp>
        <p:nvSpPr>
          <p:cNvPr id="17" name="Text 15"/>
          <p:cNvSpPr/>
          <p:nvPr/>
        </p:nvSpPr>
        <p:spPr>
          <a:xfrm>
            <a:off x="6812280" y="3145536"/>
            <a:ext cx="4480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Two engines, one story</a:t>
            </a:r>
            <a:endParaRPr lang="en-US" sz="1500" dirty="0"/>
          </a:p>
        </p:txBody>
      </p:sp>
      <p:sp>
        <p:nvSpPr>
          <p:cNvPr id="18" name="Text 16"/>
          <p:cNvSpPr/>
          <p:nvPr/>
        </p:nvSpPr>
        <p:spPr>
          <a:xfrm>
            <a:off x="6812280" y="3520440"/>
            <a:ext cx="4434840" cy="77724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The live surrogate and the full NSGA-II agree on the winning region — instant interaction with optimization-grade backing.</a:t>
            </a:r>
            <a:endParaRPr lang="en-US" sz="1150" dirty="0"/>
          </a:p>
        </p:txBody>
      </p:sp>
      <p:sp>
        <p:nvSpPr>
          <p:cNvPr id="19" name="Shape 17"/>
          <p:cNvSpPr/>
          <p:nvPr/>
        </p:nvSpPr>
        <p:spPr>
          <a:xfrm>
            <a:off x="822960" y="4892040"/>
            <a:ext cx="10607040" cy="1234440"/>
          </a:xfrm>
          <a:prstGeom prst="roundRect">
            <a:avLst>
              <a:gd name="adj" fmla="val 8889"/>
            </a:avLst>
          </a:prstGeom>
          <a:solidFill>
            <a:srgbClr val="0C4A6E"/>
          </a:solidFill>
          <a:ln/>
        </p:spPr>
      </p:sp>
      <p:sp>
        <p:nvSpPr>
          <p:cNvPr id="20" name="Text 18"/>
          <p:cNvSpPr/>
          <p:nvPr/>
        </p:nvSpPr>
        <p:spPr>
          <a:xfrm>
            <a:off x="1097280" y="5047488"/>
            <a:ext cx="2286000" cy="365760"/>
          </a:xfrm>
          <a:prstGeom prst="rect">
            <a:avLst/>
          </a:prstGeom>
          <a:noFill/>
          <a:ln/>
        </p:spPr>
        <p:txBody>
          <a:bodyPr wrap="square" lIns="0" tIns="0" rIns="0" bIns="0" rtlCol="0" anchor="ctr"/>
          <a:lstStyle/>
          <a:p>
            <a:pPr indent="0" marL="0">
              <a:buNone/>
            </a:pPr>
            <a:r>
              <a:rPr lang="en-US" sz="1500" b="1" dirty="0">
                <a:solidFill>
                  <a:srgbClr val="7DD3FC"/>
                </a:solidFill>
                <a:latin typeface="Calibri" pitchFamily="34" charset="0"/>
                <a:ea typeface="Calibri" pitchFamily="34" charset="-122"/>
                <a:cs typeface="Calibri" pitchFamily="34" charset="-120"/>
              </a:rPr>
              <a:t>Live demo</a:t>
            </a:r>
            <a:endParaRPr lang="en-US" sz="1500" dirty="0"/>
          </a:p>
        </p:txBody>
      </p:sp>
      <p:sp>
        <p:nvSpPr>
          <p:cNvPr id="21" name="Text 19"/>
          <p:cNvSpPr/>
          <p:nvPr/>
        </p:nvSpPr>
        <p:spPr>
          <a:xfrm>
            <a:off x="1097280" y="5440680"/>
            <a:ext cx="10058400" cy="548640"/>
          </a:xfrm>
          <a:prstGeom prst="rect">
            <a:avLst/>
          </a:prstGeom>
          <a:noFill/>
          <a:ln/>
        </p:spPr>
        <p:txBody>
          <a:bodyPr wrap="square" lIns="0" tIns="0" rIns="0" bIns="0" rtlCol="0" anchor="ctr"/>
          <a:lstStyle/>
          <a:p>
            <a:pPr indent="0" marL="0">
              <a:buNone/>
            </a:pPr>
            <a:r>
              <a:rPr lang="en-US" sz="1300" dirty="0">
                <a:solidFill>
                  <a:srgbClr val="E0F2FE"/>
                </a:solidFill>
                <a:latin typeface="Calibri" pitchFamily="34" charset="0"/>
                <a:ea typeface="Calibri" pitchFamily="34" charset="-122"/>
                <a:cs typeface="Calibri" pitchFamily="34" charset="-120"/>
              </a:rPr>
              <a:t>python moga_server.py   →   open http://localhost:8000/interactive_dashboard.html   →   adjust sliders   →   RUN MOGA ENGINE (5 seeds × 60 generations ≈ 20 s)</a:t>
            </a:r>
            <a:endParaRPr lang="en-US" sz="1300" dirty="0"/>
          </a:p>
        </p:txBody>
      </p:sp>
      <p:sp>
        <p:nvSpPr>
          <p:cNvPr id="22" name="Text 20"/>
          <p:cNvSpPr/>
          <p:nvPr/>
        </p:nvSpPr>
        <p:spPr>
          <a:xfrm>
            <a:off x="822960" y="6355080"/>
            <a:ext cx="7315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Ana Ferreira · AE 540 · Penn State University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2026-08-19T09:11:28Z</dcterms:created>
  <dcterms:modified xsi:type="dcterms:W3CDTF">2026-08-19T09:11:28Z</dcterms:modified>
</cp:coreProperties>
</file>